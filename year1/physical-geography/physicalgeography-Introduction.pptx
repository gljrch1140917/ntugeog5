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72"/>
  </p:notesMasterIdLst>
  <p:sldIdLst>
    <p:sldId id="256" r:id="rId3"/>
    <p:sldId id="258" r:id="rId4"/>
    <p:sldId id="321" r:id="rId5"/>
    <p:sldId id="323" r:id="rId6"/>
    <p:sldId id="262" r:id="rId7"/>
    <p:sldId id="263" r:id="rId8"/>
    <p:sldId id="322" r:id="rId9"/>
    <p:sldId id="270" r:id="rId10"/>
    <p:sldId id="273" r:id="rId11"/>
    <p:sldId id="275" r:id="rId12"/>
    <p:sldId id="276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9" r:id="rId43"/>
    <p:sldId id="310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19" r:id="rId52"/>
    <p:sldId id="320" r:id="rId53"/>
    <p:sldId id="260" r:id="rId54"/>
    <p:sldId id="261" r:id="rId55"/>
    <p:sldId id="324" r:id="rId56"/>
    <p:sldId id="325" r:id="rId57"/>
    <p:sldId id="264" r:id="rId58"/>
    <p:sldId id="265" r:id="rId59"/>
    <p:sldId id="267" r:id="rId60"/>
    <p:sldId id="268" r:id="rId61"/>
    <p:sldId id="269" r:id="rId62"/>
    <p:sldId id="266" r:id="rId63"/>
    <p:sldId id="326" r:id="rId64"/>
    <p:sldId id="327" r:id="rId65"/>
    <p:sldId id="328" r:id="rId66"/>
    <p:sldId id="329" r:id="rId67"/>
    <p:sldId id="330" r:id="rId68"/>
    <p:sldId id="331" r:id="rId69"/>
    <p:sldId id="332" r:id="rId70"/>
    <p:sldId id="333" r:id="rId71"/>
  </p:sldIdLst>
  <p:sldSz cx="13444538" cy="7562850"/>
  <p:notesSz cx="10693400" cy="75628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7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B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26" autoAdjust="0"/>
  </p:normalViewPr>
  <p:slideViewPr>
    <p:cSldViewPr>
      <p:cViewPr varScale="1">
        <p:scale>
          <a:sx n="88" d="100"/>
          <a:sy n="88" d="100"/>
        </p:scale>
        <p:origin x="366" y="90"/>
      </p:cViewPr>
      <p:guideLst>
        <p:guide orient="horz" pos="2880"/>
        <p:guide pos="27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38FEC-B0CE-4658-8BCC-F6BD529A0E05}" type="datetimeFigureOut">
              <a:rPr lang="zh-TW" altLang="en-US" smtClean="0"/>
              <a:t>2025/9/3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079750" y="946150"/>
            <a:ext cx="45339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AEFCC-2582-45CB-8570-A93ACF5CAA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2535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079750" y="946150"/>
            <a:ext cx="4533900" cy="2551113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找</a:t>
            </a:r>
            <a:r>
              <a:rPr lang="en-US" altLang="zh-TW" dirty="0"/>
              <a:t>3</a:t>
            </a:r>
            <a:r>
              <a:rPr lang="zh-TW" altLang="en-US" dirty="0"/>
              <a:t>張照片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AEFCC-2582-45CB-8570-A93ACF5CAA0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364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079750" y="946150"/>
            <a:ext cx="4533900" cy="2551113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AEFCC-2582-45CB-8570-A93ACF5CAA0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5001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079750" y="946150"/>
            <a:ext cx="4533900" cy="2551113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AEFCC-2582-45CB-8570-A93ACF5CAA01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176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8343" y="2344483"/>
            <a:ext cx="11427857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6683" y="4235196"/>
            <a:ext cx="9411177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C86F4-A5B7-4666-801D-A0A6BA5CC776}" type="datetime1">
              <a:rPr lang="zh-TW" altLang="en-US" smtClean="0"/>
              <a:t>2025/9/3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28217" y="1823061"/>
            <a:ext cx="1933651" cy="348878"/>
          </a:xfrm>
        </p:spPr>
        <p:txBody>
          <a:bodyPr lIns="0" tIns="0" rIns="0" bIns="0"/>
          <a:lstStyle>
            <a:lvl1pPr>
              <a:defRPr sz="2267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35721" y="1787545"/>
            <a:ext cx="6373093" cy="348878"/>
          </a:xfrm>
        </p:spPr>
        <p:txBody>
          <a:bodyPr lIns="0" tIns="0" rIns="0" bIns="0"/>
          <a:lstStyle>
            <a:lvl1pPr>
              <a:defRPr sz="2267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CF176-D96D-478C-B570-677556065C88}" type="datetime1">
              <a:rPr lang="zh-TW" altLang="en-US" smtClean="0"/>
              <a:t>2025/9/3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28217" y="1823061"/>
            <a:ext cx="1933651" cy="348878"/>
          </a:xfrm>
        </p:spPr>
        <p:txBody>
          <a:bodyPr lIns="0" tIns="0" rIns="0" bIns="0"/>
          <a:lstStyle>
            <a:lvl1pPr>
              <a:defRPr sz="2267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2230" y="1739456"/>
            <a:ext cx="584837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23940" y="1739456"/>
            <a:ext cx="584837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EBAE8-0718-4B01-9D14-61CA15EC6E47}" type="datetime1">
              <a:rPr lang="zh-TW" altLang="en-US" smtClean="0"/>
              <a:t>2025/9/3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75641" y="850902"/>
            <a:ext cx="13077288" cy="58547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28217" y="1823061"/>
            <a:ext cx="1933651" cy="348878"/>
          </a:xfrm>
        </p:spPr>
        <p:txBody>
          <a:bodyPr lIns="0" tIns="0" rIns="0" bIns="0"/>
          <a:lstStyle>
            <a:lvl1pPr>
              <a:defRPr sz="2267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12595-939C-4CC2-99C8-4EA2ADB714EB}" type="datetime1">
              <a:rPr lang="zh-TW" altLang="en-US" smtClean="0"/>
              <a:t>2025/9/3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F7522-EF4E-4E1E-9515-197963351462}" type="datetime1">
              <a:rPr lang="zh-TW" altLang="en-US" smtClean="0"/>
              <a:t>2025/9/3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41631B-DB51-4BE6-A2E1-545CCBE32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0567" y="1237717"/>
            <a:ext cx="10083404" cy="2632992"/>
          </a:xfrm>
        </p:spPr>
        <p:txBody>
          <a:bodyPr anchor="b"/>
          <a:lstStyle>
            <a:lvl1pPr algn="ctr">
              <a:defRPr sz="6616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A88A886-2B0B-403F-A848-72457B8CE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0567" y="3972247"/>
            <a:ext cx="10083404" cy="1825938"/>
          </a:xfrm>
        </p:spPr>
        <p:txBody>
          <a:bodyPr/>
          <a:lstStyle>
            <a:lvl1pPr marL="0" indent="0" algn="ctr">
              <a:buNone/>
              <a:defRPr sz="2646"/>
            </a:lvl1pPr>
            <a:lvl2pPr marL="504154" indent="0" algn="ctr">
              <a:buNone/>
              <a:defRPr sz="2205"/>
            </a:lvl2pPr>
            <a:lvl3pPr marL="1008309" indent="0" algn="ctr">
              <a:buNone/>
              <a:defRPr sz="1985"/>
            </a:lvl3pPr>
            <a:lvl4pPr marL="1512463" indent="0" algn="ctr">
              <a:buNone/>
              <a:defRPr sz="1764"/>
            </a:lvl4pPr>
            <a:lvl5pPr marL="2016618" indent="0" algn="ctr">
              <a:buNone/>
              <a:defRPr sz="1764"/>
            </a:lvl5pPr>
            <a:lvl6pPr marL="2520772" indent="0" algn="ctr">
              <a:buNone/>
              <a:defRPr sz="1764"/>
            </a:lvl6pPr>
            <a:lvl7pPr marL="3024927" indent="0" algn="ctr">
              <a:buNone/>
              <a:defRPr sz="1764"/>
            </a:lvl7pPr>
            <a:lvl8pPr marL="3529081" indent="0" algn="ctr">
              <a:buNone/>
              <a:defRPr sz="1764"/>
            </a:lvl8pPr>
            <a:lvl9pPr marL="4033236" indent="0" algn="ctr">
              <a:buNone/>
              <a:defRPr sz="1764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AEA7D4-7F1E-41DB-8BF7-834D8E59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372AB-F43E-47D7-846C-075DEDC8A9E4}" type="datetime1">
              <a:rPr lang="zh-TW" altLang="en-US" smtClean="0"/>
              <a:t>2025/9/3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92E253-5A16-4C69-8E68-4A948A11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CE1CAF-AEFC-46FA-A266-37168D79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996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138F8-E734-490F-9C21-DA27BEFFD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63455F-F4D5-4F9D-B29A-91041A639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6CB94D-1DC1-4DD9-8FC7-02BCE9882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D3D5A-BAB7-45B7-9272-6365C3CDF37C}" type="datetime1">
              <a:rPr lang="zh-TW" altLang="en-US" smtClean="0"/>
              <a:t>2025/9/3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66B7D6-0FF2-4A71-8255-87BE2375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1DB2C9-3BFD-4B48-8C39-45F6AFAA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04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73FC8C-0B57-4159-8293-DFD55F1E2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310" y="1885462"/>
            <a:ext cx="11595914" cy="3145935"/>
          </a:xfrm>
        </p:spPr>
        <p:txBody>
          <a:bodyPr anchor="b"/>
          <a:lstStyle>
            <a:lvl1pPr>
              <a:defRPr sz="6616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05CD52-E94F-44F7-99B5-98955AA47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310" y="5061158"/>
            <a:ext cx="11595914" cy="1654373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1pPr>
            <a:lvl2pPr marL="504154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8309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246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661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20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4927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908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323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051D4A-235D-476A-99D4-A05788443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2B576-DE70-4587-A052-34BE66D4F7BF}" type="datetime1">
              <a:rPr lang="zh-TW" altLang="en-US" smtClean="0"/>
              <a:t>2025/9/3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51F5CB-854D-4DF1-8C30-323763429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F92370-D847-4B5E-8364-3D77BEF6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3665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AF330C-5603-476D-AFFD-76D57A56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D11074-D073-42FB-A5C0-ABE3790FB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312" y="2013259"/>
            <a:ext cx="5713929" cy="479855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C7C005D-0404-4F6F-9394-E98B0FFFC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6297" y="2013259"/>
            <a:ext cx="5713929" cy="479855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EDB46C8-ED55-475B-B4C4-F806EBC87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64230-1562-49B9-A396-3962ED090453}" type="datetime1">
              <a:rPr lang="zh-TW" altLang="en-US" smtClean="0"/>
              <a:t>2025/9/3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98F870-93DE-448A-8B4B-C2102F32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80DFF5-8F38-45B7-A71F-88ED5387C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972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3D610C-1F94-409F-A9D9-B87B8356A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063" y="402652"/>
            <a:ext cx="11595914" cy="146180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2FF6DF8-888C-467B-B536-FF249D897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064" y="1853949"/>
            <a:ext cx="5687669" cy="908592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154" indent="0">
              <a:buNone/>
              <a:defRPr sz="2205" b="1"/>
            </a:lvl2pPr>
            <a:lvl3pPr marL="1008309" indent="0">
              <a:buNone/>
              <a:defRPr sz="1985" b="1"/>
            </a:lvl3pPr>
            <a:lvl4pPr marL="1512463" indent="0">
              <a:buNone/>
              <a:defRPr sz="1764" b="1"/>
            </a:lvl4pPr>
            <a:lvl5pPr marL="2016618" indent="0">
              <a:buNone/>
              <a:defRPr sz="1764" b="1"/>
            </a:lvl5pPr>
            <a:lvl6pPr marL="2520772" indent="0">
              <a:buNone/>
              <a:defRPr sz="1764" b="1"/>
            </a:lvl6pPr>
            <a:lvl7pPr marL="3024927" indent="0">
              <a:buNone/>
              <a:defRPr sz="1764" b="1"/>
            </a:lvl7pPr>
            <a:lvl8pPr marL="3529081" indent="0">
              <a:buNone/>
              <a:defRPr sz="1764" b="1"/>
            </a:lvl8pPr>
            <a:lvl9pPr marL="4033236" indent="0">
              <a:buNone/>
              <a:defRPr sz="176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98141A3-EE77-463C-85A3-C228CB955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6064" y="2762541"/>
            <a:ext cx="5687669" cy="406328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9FCE59E-7C5C-4EB9-8DDB-5031E4EB3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06297" y="1853949"/>
            <a:ext cx="5715680" cy="908592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154" indent="0">
              <a:buNone/>
              <a:defRPr sz="2205" b="1"/>
            </a:lvl2pPr>
            <a:lvl3pPr marL="1008309" indent="0">
              <a:buNone/>
              <a:defRPr sz="1985" b="1"/>
            </a:lvl3pPr>
            <a:lvl4pPr marL="1512463" indent="0">
              <a:buNone/>
              <a:defRPr sz="1764" b="1"/>
            </a:lvl4pPr>
            <a:lvl5pPr marL="2016618" indent="0">
              <a:buNone/>
              <a:defRPr sz="1764" b="1"/>
            </a:lvl5pPr>
            <a:lvl6pPr marL="2520772" indent="0">
              <a:buNone/>
              <a:defRPr sz="1764" b="1"/>
            </a:lvl6pPr>
            <a:lvl7pPr marL="3024927" indent="0">
              <a:buNone/>
              <a:defRPr sz="1764" b="1"/>
            </a:lvl7pPr>
            <a:lvl8pPr marL="3529081" indent="0">
              <a:buNone/>
              <a:defRPr sz="1764" b="1"/>
            </a:lvl8pPr>
            <a:lvl9pPr marL="4033236" indent="0">
              <a:buNone/>
              <a:defRPr sz="176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8E9D1F4-AB76-41DF-A41F-9B86ED956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06297" y="2762541"/>
            <a:ext cx="5715680" cy="406328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90C8BFB-E171-4C5C-A288-4B11F859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364A0-C7B2-4ADF-90ED-79546E9BD612}" type="datetime1">
              <a:rPr lang="zh-TW" altLang="en-US" smtClean="0"/>
              <a:t>2025/9/3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DBCF72B-5113-46BE-8F63-16592C7E6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1DAED4A-2887-468F-AE61-CB705EFEE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0678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BADD1B-0AC8-4940-AEE9-1DB55335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8E5C0A0-C8B6-4276-9143-6CF7BB5B3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DF35-3E1D-4611-93AA-EC8FC60158BA}" type="datetime1">
              <a:rPr lang="zh-TW" altLang="en-US" smtClean="0"/>
              <a:t>2025/9/3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F032FE9-68DC-49DB-A5C3-06DC609F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085DB97-05BA-434C-898E-28761473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9496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2ABADA0-1DFF-4B64-B5F9-765B46F8E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4D20E-CB6D-45BB-B536-23867B492E42}" type="datetime1">
              <a:rPr lang="zh-TW" altLang="en-US" smtClean="0"/>
              <a:t>2025/9/3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F5E4E9-28E2-4474-9477-3E460AD86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601134-704F-476C-8FB3-CF77D984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2746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AF23D5-D69F-4FFF-A2DC-CB2F6B842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064" y="504190"/>
            <a:ext cx="4336213" cy="1764665"/>
          </a:xfrm>
        </p:spPr>
        <p:txBody>
          <a:bodyPr anchor="b"/>
          <a:lstStyle>
            <a:lvl1pPr>
              <a:defRPr sz="3529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C8F61E-6E07-4803-9EB9-7E2341FB7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680" y="1088911"/>
            <a:ext cx="6806297" cy="5374525"/>
          </a:xfrm>
        </p:spPr>
        <p:txBody>
          <a:bodyPr/>
          <a:lstStyle>
            <a:lvl1pPr>
              <a:defRPr sz="3529"/>
            </a:lvl1pPr>
            <a:lvl2pPr>
              <a:defRPr sz="3088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02A17DE-2A20-43FB-9AB9-4D02C6EED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6064" y="2268855"/>
            <a:ext cx="4336213" cy="4203335"/>
          </a:xfrm>
        </p:spPr>
        <p:txBody>
          <a:bodyPr/>
          <a:lstStyle>
            <a:lvl1pPr marL="0" indent="0">
              <a:buNone/>
              <a:defRPr sz="1764"/>
            </a:lvl1pPr>
            <a:lvl2pPr marL="504154" indent="0">
              <a:buNone/>
              <a:defRPr sz="1544"/>
            </a:lvl2pPr>
            <a:lvl3pPr marL="1008309" indent="0">
              <a:buNone/>
              <a:defRPr sz="1323"/>
            </a:lvl3pPr>
            <a:lvl4pPr marL="1512463" indent="0">
              <a:buNone/>
              <a:defRPr sz="1103"/>
            </a:lvl4pPr>
            <a:lvl5pPr marL="2016618" indent="0">
              <a:buNone/>
              <a:defRPr sz="1103"/>
            </a:lvl5pPr>
            <a:lvl6pPr marL="2520772" indent="0">
              <a:buNone/>
              <a:defRPr sz="1103"/>
            </a:lvl6pPr>
            <a:lvl7pPr marL="3024927" indent="0">
              <a:buNone/>
              <a:defRPr sz="1103"/>
            </a:lvl7pPr>
            <a:lvl8pPr marL="3529081" indent="0">
              <a:buNone/>
              <a:defRPr sz="1103"/>
            </a:lvl8pPr>
            <a:lvl9pPr marL="4033236" indent="0">
              <a:buNone/>
              <a:defRPr sz="110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80D839-D329-4335-BDEB-462FF581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0B6BF-1D37-45A5-9B07-805150E8C0B2}" type="datetime1">
              <a:rPr lang="zh-TW" altLang="en-US" smtClean="0"/>
              <a:t>2025/9/3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850416-9EE5-4FE3-B928-A4A48992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4C798D-97DF-4DB1-AF15-A6C564E2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058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FB0A40-2832-4E65-86C8-BC17D7952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064" y="504190"/>
            <a:ext cx="4336213" cy="1764665"/>
          </a:xfrm>
        </p:spPr>
        <p:txBody>
          <a:bodyPr anchor="b"/>
          <a:lstStyle>
            <a:lvl1pPr>
              <a:defRPr sz="3529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A9CA0FE-0D53-4EA7-AF8C-21C6BC857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15680" y="1088911"/>
            <a:ext cx="6806297" cy="5374525"/>
          </a:xfrm>
        </p:spPr>
        <p:txBody>
          <a:bodyPr/>
          <a:lstStyle>
            <a:lvl1pPr marL="0" indent="0">
              <a:buNone/>
              <a:defRPr sz="3529"/>
            </a:lvl1pPr>
            <a:lvl2pPr marL="504154" indent="0">
              <a:buNone/>
              <a:defRPr sz="3088"/>
            </a:lvl2pPr>
            <a:lvl3pPr marL="1008309" indent="0">
              <a:buNone/>
              <a:defRPr sz="2646"/>
            </a:lvl3pPr>
            <a:lvl4pPr marL="1512463" indent="0">
              <a:buNone/>
              <a:defRPr sz="2205"/>
            </a:lvl4pPr>
            <a:lvl5pPr marL="2016618" indent="0">
              <a:buNone/>
              <a:defRPr sz="2205"/>
            </a:lvl5pPr>
            <a:lvl6pPr marL="2520772" indent="0">
              <a:buNone/>
              <a:defRPr sz="2205"/>
            </a:lvl6pPr>
            <a:lvl7pPr marL="3024927" indent="0">
              <a:buNone/>
              <a:defRPr sz="2205"/>
            </a:lvl7pPr>
            <a:lvl8pPr marL="3529081" indent="0">
              <a:buNone/>
              <a:defRPr sz="2205"/>
            </a:lvl8pPr>
            <a:lvl9pPr marL="4033236" indent="0">
              <a:buNone/>
              <a:defRPr sz="2205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65BF932-8562-4831-B769-B32699F74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6064" y="2268855"/>
            <a:ext cx="4336213" cy="4203335"/>
          </a:xfrm>
        </p:spPr>
        <p:txBody>
          <a:bodyPr/>
          <a:lstStyle>
            <a:lvl1pPr marL="0" indent="0">
              <a:buNone/>
              <a:defRPr sz="1764"/>
            </a:lvl1pPr>
            <a:lvl2pPr marL="504154" indent="0">
              <a:buNone/>
              <a:defRPr sz="1544"/>
            </a:lvl2pPr>
            <a:lvl3pPr marL="1008309" indent="0">
              <a:buNone/>
              <a:defRPr sz="1323"/>
            </a:lvl3pPr>
            <a:lvl4pPr marL="1512463" indent="0">
              <a:buNone/>
              <a:defRPr sz="1103"/>
            </a:lvl4pPr>
            <a:lvl5pPr marL="2016618" indent="0">
              <a:buNone/>
              <a:defRPr sz="1103"/>
            </a:lvl5pPr>
            <a:lvl6pPr marL="2520772" indent="0">
              <a:buNone/>
              <a:defRPr sz="1103"/>
            </a:lvl6pPr>
            <a:lvl7pPr marL="3024927" indent="0">
              <a:buNone/>
              <a:defRPr sz="1103"/>
            </a:lvl7pPr>
            <a:lvl8pPr marL="3529081" indent="0">
              <a:buNone/>
              <a:defRPr sz="1103"/>
            </a:lvl8pPr>
            <a:lvl9pPr marL="4033236" indent="0">
              <a:buNone/>
              <a:defRPr sz="110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71454C8-F60D-4D39-B241-CC1616A22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D5A9-C1DE-4A62-8458-4775078A7248}" type="datetime1">
              <a:rPr lang="zh-TW" altLang="en-US" smtClean="0"/>
              <a:t>2025/9/3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BEF2561-3AB6-4BFB-9C77-3A8ACD73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3BD63A8-0563-4E11-BE00-0EF7D4DCA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11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5BD2C3-1FC7-4E75-A2E7-53F210A5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B505C97-5212-4B41-A758-EC71823CF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64FF74-A697-4094-8E39-3F101D5D1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5610-B508-4571-8173-D26CCCD81A82}" type="datetime1">
              <a:rPr lang="zh-TW" altLang="en-US" smtClean="0"/>
              <a:t>2025/9/3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D8B7FC-8961-4376-B7F6-EB547FC8F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6A91A4-4307-476D-9FD7-BF4235334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244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31489CD-3D68-402A-94FB-2E39DDEEE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21247" y="402652"/>
            <a:ext cx="2898979" cy="640916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E1A39B-AD96-4B45-A3A0-F770F64B1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24312" y="402652"/>
            <a:ext cx="8528879" cy="6409166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570056-9D14-4421-B1E2-FEC4E5C6E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AE16-A8BB-4311-9786-9CB41DCF2901}" type="datetime1">
              <a:rPr lang="zh-TW" altLang="en-US" smtClean="0"/>
              <a:t>2025/9/3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E2F401-B0CB-4403-B08F-2C8885079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E20030-EFC1-4052-A3F7-9F9CB3C07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6746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14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2755C-808F-49A6-A3F1-56EF0C804996}" type="datetime1">
              <a:rPr lang="zh-TW" altLang="en-US" smtClean="0"/>
              <a:t>2025/9/3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6481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1116" y="516659"/>
            <a:ext cx="12222307" cy="6720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6681" y="4235196"/>
            <a:ext cx="9411177" cy="427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A2AF2-D4A0-4628-A0E7-13DDE02D4842}" type="datetime1">
              <a:rPr lang="zh-TW" altLang="en-US" smtClean="0"/>
              <a:t>2025/9/3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74828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BBFB7-E574-4273-9030-34C64A39C82B}" type="datetime1">
              <a:rPr lang="zh-TW" altLang="en-US" smtClean="0"/>
              <a:t>2025/9/3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4606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75641" y="850902"/>
            <a:ext cx="13077288" cy="5855335"/>
          </a:xfrm>
          <a:custGeom>
            <a:avLst/>
            <a:gdLst/>
            <a:ahLst/>
            <a:cxnLst/>
            <a:rect l="l" t="t" r="r" b="b"/>
            <a:pathLst>
              <a:path w="10401300" h="5855334">
                <a:moveTo>
                  <a:pt x="0" y="0"/>
                </a:moveTo>
                <a:lnTo>
                  <a:pt x="10401300" y="0"/>
                </a:lnTo>
                <a:lnTo>
                  <a:pt x="10401300" y="5854705"/>
                </a:lnTo>
                <a:lnTo>
                  <a:pt x="0" y="5854705"/>
                </a:lnTo>
                <a:lnTo>
                  <a:pt x="0" y="0"/>
                </a:lnTo>
                <a:close/>
              </a:path>
            </a:pathLst>
          </a:custGeom>
          <a:solidFill>
            <a:srgbClr val="0F1B2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28217" y="1823059"/>
            <a:ext cx="1933651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35721" y="1787543"/>
            <a:ext cx="6373093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71143" y="7033457"/>
            <a:ext cx="430225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2227" y="7033457"/>
            <a:ext cx="309224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3788E-C6F7-407E-BD6C-0879B34DA781}" type="datetime1">
              <a:rPr lang="zh-TW" altLang="en-US" smtClean="0"/>
              <a:t>2025/9/3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80067" y="7033457"/>
            <a:ext cx="309224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650">
        <a:defRPr>
          <a:latin typeface="+mn-lt"/>
          <a:ea typeface="+mn-ea"/>
          <a:cs typeface="+mn-cs"/>
        </a:defRPr>
      </a:lvl2pPr>
      <a:lvl3pPr marL="1219300">
        <a:defRPr>
          <a:latin typeface="+mn-lt"/>
          <a:ea typeface="+mn-ea"/>
          <a:cs typeface="+mn-cs"/>
        </a:defRPr>
      </a:lvl3pPr>
      <a:lvl4pPr marL="1828952">
        <a:defRPr>
          <a:latin typeface="+mn-lt"/>
          <a:ea typeface="+mn-ea"/>
          <a:cs typeface="+mn-cs"/>
        </a:defRPr>
      </a:lvl4pPr>
      <a:lvl5pPr marL="2438603">
        <a:defRPr>
          <a:latin typeface="+mn-lt"/>
          <a:ea typeface="+mn-ea"/>
          <a:cs typeface="+mn-cs"/>
        </a:defRPr>
      </a:lvl5pPr>
      <a:lvl6pPr marL="3048253">
        <a:defRPr>
          <a:latin typeface="+mn-lt"/>
          <a:ea typeface="+mn-ea"/>
          <a:cs typeface="+mn-cs"/>
        </a:defRPr>
      </a:lvl6pPr>
      <a:lvl7pPr marL="3657902">
        <a:defRPr>
          <a:latin typeface="+mn-lt"/>
          <a:ea typeface="+mn-ea"/>
          <a:cs typeface="+mn-cs"/>
        </a:defRPr>
      </a:lvl7pPr>
      <a:lvl8pPr marL="4267555">
        <a:defRPr>
          <a:latin typeface="+mn-lt"/>
          <a:ea typeface="+mn-ea"/>
          <a:cs typeface="+mn-cs"/>
        </a:defRPr>
      </a:lvl8pPr>
      <a:lvl9pPr marL="487720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650">
        <a:defRPr>
          <a:latin typeface="+mn-lt"/>
          <a:ea typeface="+mn-ea"/>
          <a:cs typeface="+mn-cs"/>
        </a:defRPr>
      </a:lvl2pPr>
      <a:lvl3pPr marL="1219300">
        <a:defRPr>
          <a:latin typeface="+mn-lt"/>
          <a:ea typeface="+mn-ea"/>
          <a:cs typeface="+mn-cs"/>
        </a:defRPr>
      </a:lvl3pPr>
      <a:lvl4pPr marL="1828952">
        <a:defRPr>
          <a:latin typeface="+mn-lt"/>
          <a:ea typeface="+mn-ea"/>
          <a:cs typeface="+mn-cs"/>
        </a:defRPr>
      </a:lvl4pPr>
      <a:lvl5pPr marL="2438603">
        <a:defRPr>
          <a:latin typeface="+mn-lt"/>
          <a:ea typeface="+mn-ea"/>
          <a:cs typeface="+mn-cs"/>
        </a:defRPr>
      </a:lvl5pPr>
      <a:lvl6pPr marL="3048253">
        <a:defRPr>
          <a:latin typeface="+mn-lt"/>
          <a:ea typeface="+mn-ea"/>
          <a:cs typeface="+mn-cs"/>
        </a:defRPr>
      </a:lvl6pPr>
      <a:lvl7pPr marL="3657902">
        <a:defRPr>
          <a:latin typeface="+mn-lt"/>
          <a:ea typeface="+mn-ea"/>
          <a:cs typeface="+mn-cs"/>
        </a:defRPr>
      </a:lvl7pPr>
      <a:lvl8pPr marL="4267555">
        <a:defRPr>
          <a:latin typeface="+mn-lt"/>
          <a:ea typeface="+mn-ea"/>
          <a:cs typeface="+mn-cs"/>
        </a:defRPr>
      </a:lvl8pPr>
      <a:lvl9pPr marL="4877203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78F08DA-8D29-4431-BE59-FCEF5B597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312" y="402652"/>
            <a:ext cx="11595914" cy="146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9DE12F-0752-4EF0-8179-8D7CC649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4312" y="2013259"/>
            <a:ext cx="11595914" cy="4798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C36A04-9293-4817-BBA9-CBEF06DEF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12" y="7009642"/>
            <a:ext cx="3025021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E5251-4A43-460D-BFFE-DD2E0B40D8EC}" type="datetime1">
              <a:rPr lang="zh-TW" altLang="en-US" smtClean="0"/>
              <a:t>2025/9/3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4D0ADD-D9A4-4ADD-87F8-329929A21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3503" y="7009642"/>
            <a:ext cx="4537532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77CE76-7F68-4B5D-996F-98616A7A3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95205" y="7009642"/>
            <a:ext cx="3025021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768E9-E09E-47FB-93EB-00CDFF4C90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3671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hf hdr="0" ftr="0" dt="0"/>
  <p:txStyles>
    <p:titleStyle>
      <a:lvl1pPr algn="l" defTabSz="1008309" rtl="0" eaLnBrk="1" latinLnBrk="0" hangingPunct="1">
        <a:lnSpc>
          <a:spcPct val="90000"/>
        </a:lnSpc>
        <a:spcBef>
          <a:spcPct val="0"/>
        </a:spcBef>
        <a:buNone/>
        <a:defRPr sz="48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77" indent="-252077" algn="l" defTabSz="1008309" rtl="0" eaLnBrk="1" latinLnBrk="0" hangingPunct="1">
        <a:lnSpc>
          <a:spcPct val="90000"/>
        </a:lnSpc>
        <a:spcBef>
          <a:spcPts val="1103"/>
        </a:spcBef>
        <a:buFont typeface="Arial" panose="020B0604020202020204" pitchFamily="34" charset="0"/>
        <a:buChar char="•"/>
        <a:defRPr sz="3088" kern="1200">
          <a:solidFill>
            <a:schemeClr val="tx1"/>
          </a:solidFill>
          <a:latin typeface="+mn-lt"/>
          <a:ea typeface="+mn-ea"/>
          <a:cs typeface="+mn-cs"/>
        </a:defRPr>
      </a:lvl1pPr>
      <a:lvl2pPr marL="756232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60386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541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695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2849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7004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1158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5313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54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309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463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618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772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4927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9081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3236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ites.google.com/site/choyhuang/" TargetMode="External"/><Relationship Id="rId3" Type="http://schemas.openxmlformats.org/officeDocument/2006/relationships/hyperlink" Target="mailto:raychuang@ntu.edu.tw" TargetMode="External"/><Relationship Id="rId7" Type="http://schemas.openxmlformats.org/officeDocument/2006/relationships/hyperlink" Target="mailto:choying@ntu.edu.t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ites.google.com/view/jjuang" TargetMode="External"/><Relationship Id="rId11" Type="http://schemas.openxmlformats.org/officeDocument/2006/relationships/image" Target="../media/image7.jpeg"/><Relationship Id="rId5" Type="http://schemas.openxmlformats.org/officeDocument/2006/relationships/hyperlink" Target="mailto:jjuang@ntu.edu.tw" TargetMode="External"/><Relationship Id="rId10" Type="http://schemas.openxmlformats.org/officeDocument/2006/relationships/image" Target="../media/image6.jpeg"/><Relationship Id="rId4" Type="http://schemas.openxmlformats.org/officeDocument/2006/relationships/hyperlink" Target="https://www.geog.ntu.edu.tw/index.php/tw/people/professor/139-faculty/c-tw-cjyang/2931-profile-cjyang-tw" TargetMode="External"/><Relationship Id="rId9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r13228022@ntu.edu.tw" TargetMode="External"/><Relationship Id="rId2" Type="http://schemas.openxmlformats.org/officeDocument/2006/relationships/hyperlink" Target="mailto:r12228005@ntu.edu.tw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ockholmresilience.org/research/planetary-boundaries.html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kVOTHKAqgK4" TargetMode="External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g"/><Relationship Id="rId3" Type="http://schemas.openxmlformats.org/officeDocument/2006/relationships/image" Target="../media/image46.jpg"/><Relationship Id="rId7" Type="http://schemas.openxmlformats.org/officeDocument/2006/relationships/image" Target="../media/image50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g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7" Type="http://schemas.openxmlformats.org/officeDocument/2006/relationships/image" Target="../media/image66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jpeg"/><Relationship Id="rId5" Type="http://schemas.microsoft.com/office/2007/relationships/hdphoto" Target="../media/hdphoto1.wdp"/><Relationship Id="rId4" Type="http://schemas.openxmlformats.org/officeDocument/2006/relationships/image" Target="../media/image6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gif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gif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946" y="2402611"/>
            <a:ext cx="6895829" cy="50966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201" b="1" spc="-13" dirty="0"/>
              <a:t>Introduction </a:t>
            </a:r>
            <a:r>
              <a:rPr sz="3201" b="1" dirty="0"/>
              <a:t>to </a:t>
            </a:r>
            <a:r>
              <a:rPr sz="3201" b="1" spc="-13" dirty="0"/>
              <a:t>Physical</a:t>
            </a:r>
            <a:r>
              <a:rPr sz="3201" b="1" spc="-93" dirty="0"/>
              <a:t> </a:t>
            </a:r>
            <a:r>
              <a:rPr sz="3201" b="1" spc="-13" dirty="0"/>
              <a:t>Geography</a:t>
            </a:r>
            <a:endParaRPr sz="3201" dirty="0"/>
          </a:p>
        </p:txBody>
      </p:sp>
      <p:sp>
        <p:nvSpPr>
          <p:cNvPr id="3" name="object 3"/>
          <p:cNvSpPr txBox="1"/>
          <p:nvPr/>
        </p:nvSpPr>
        <p:spPr>
          <a:xfrm>
            <a:off x="2434313" y="4734597"/>
            <a:ext cx="3421245" cy="1364024"/>
          </a:xfrm>
          <a:prstGeom prst="rect">
            <a:avLst/>
          </a:prstGeom>
        </p:spPr>
        <p:txBody>
          <a:bodyPr vert="horz" wrap="square" lIns="0" tIns="114296" rIns="0" bIns="0" rtlCol="0">
            <a:spAutoFit/>
          </a:bodyPr>
          <a:lstStyle/>
          <a:p>
            <a:pPr algn="ctr">
              <a:spcBef>
                <a:spcPts val="901"/>
              </a:spcBef>
            </a:pP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GEOG</a:t>
            </a:r>
            <a:r>
              <a:rPr sz="22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1024</a:t>
            </a:r>
            <a:endParaRPr sz="2267" dirty="0">
              <a:latin typeface="Arial"/>
              <a:cs typeface="Arial"/>
            </a:endParaRPr>
          </a:p>
          <a:p>
            <a:pPr marL="16936" marR="6773" algn="ctr">
              <a:lnSpc>
                <a:spcPts val="3587"/>
              </a:lnSpc>
              <a:spcBef>
                <a:spcPts val="160"/>
              </a:spcBef>
            </a:pP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Department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Geography  National </a:t>
            </a:r>
            <a:r>
              <a:rPr sz="2267" spc="-47" dirty="0">
                <a:solidFill>
                  <a:srgbClr val="FFFFFF"/>
                </a:solidFill>
                <a:latin typeface="Arial"/>
                <a:cs typeface="Arial"/>
              </a:rPr>
              <a:t>Taiwan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267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98669" y="0"/>
            <a:ext cx="5045869" cy="75760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411360" y="3194836"/>
            <a:ext cx="7367403" cy="0"/>
          </a:xfrm>
          <a:custGeom>
            <a:avLst/>
            <a:gdLst/>
            <a:ahLst/>
            <a:cxnLst/>
            <a:rect l="l" t="t" r="r" b="b"/>
            <a:pathLst>
              <a:path w="5525770">
                <a:moveTo>
                  <a:pt x="0" y="0"/>
                </a:moveTo>
                <a:lnTo>
                  <a:pt x="5525690" y="0"/>
                </a:lnTo>
              </a:path>
            </a:pathLst>
          </a:custGeom>
          <a:ln w="24394">
            <a:solidFill>
              <a:srgbClr val="9DC3E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677469" y="1071335"/>
            <a:ext cx="786864" cy="7669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414807" y="1095381"/>
            <a:ext cx="688364" cy="7188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2A3B23D8-EE2D-4976-81E3-2240218816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4" y="297887"/>
            <a:ext cx="2444230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Professors</a:t>
            </a:r>
            <a:endParaRPr sz="36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369469" y="1039921"/>
            <a:ext cx="7696200" cy="6122336"/>
          </a:xfrm>
          <a:prstGeom prst="rect">
            <a:avLst/>
          </a:prstGeom>
        </p:spPr>
        <p:txBody>
          <a:bodyPr vert="horz" wrap="square" lIns="0" tIns="64344" rIns="0" bIns="0" rtlCol="0">
            <a:spAutoFit/>
          </a:bodyPr>
          <a:lstStyle/>
          <a:p>
            <a:pPr marL="1116845" indent="-259950">
              <a:spcBef>
                <a:spcPts val="507"/>
              </a:spcBef>
              <a:buFont typeface="Arial"/>
              <a:buChar char="•"/>
              <a:tabLst>
                <a:tab pos="1118539" algn="l"/>
              </a:tabLst>
            </a:pPr>
            <a:r>
              <a:rPr lang="zh-TW" altLang="en-US" spc="-7" dirty="0">
                <a:latin typeface="微軟正黑體"/>
                <a:cs typeface="微軟正黑體"/>
              </a:rPr>
              <a:t>楊啟見</a:t>
            </a:r>
            <a:r>
              <a:rPr spc="-7" dirty="0" err="1">
                <a:latin typeface="微軟正黑體"/>
                <a:cs typeface="微軟正黑體"/>
              </a:rPr>
              <a:t>老師</a:t>
            </a:r>
            <a:r>
              <a:rPr spc="-7" dirty="0">
                <a:latin typeface="微軟正黑體"/>
                <a:cs typeface="微軟正黑體"/>
              </a:rPr>
              <a:t> </a:t>
            </a:r>
            <a:r>
              <a:rPr spc="67" dirty="0">
                <a:latin typeface="微軟正黑體"/>
                <a:cs typeface="微軟正黑體"/>
              </a:rPr>
              <a:t> </a:t>
            </a:r>
            <a:r>
              <a:rPr spc="-7" dirty="0"/>
              <a:t>Prof.</a:t>
            </a:r>
            <a:r>
              <a:rPr spc="-20" dirty="0"/>
              <a:t> </a:t>
            </a:r>
            <a:r>
              <a:rPr lang="en-US" altLang="zh-TW" dirty="0"/>
              <a:t>Ci-Jian Yang</a:t>
            </a:r>
            <a:endParaRPr dirty="0"/>
          </a:p>
          <a:p>
            <a:pPr marL="1636742" lvl="1" indent="-259950">
              <a:spcBef>
                <a:spcPts val="327"/>
              </a:spcBef>
              <a:buChar char="•"/>
              <a:tabLst>
                <a:tab pos="1637590" algn="l"/>
                <a:tab pos="1638436" algn="l"/>
              </a:tabLst>
            </a:pPr>
            <a:r>
              <a:rPr lang="en-US" sz="2001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cijianyang</a:t>
            </a:r>
            <a:r>
              <a:rPr sz="2001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@ntu.edu.tw, </a:t>
            </a:r>
            <a:r>
              <a:rPr sz="2001" dirty="0">
                <a:solidFill>
                  <a:srgbClr val="FFFFFF"/>
                </a:solidFill>
                <a:latin typeface="Arial"/>
                <a:cs typeface="Arial"/>
              </a:rPr>
              <a:t>02-336658</a:t>
            </a:r>
            <a:r>
              <a:rPr lang="en-US" sz="2001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2001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001" spc="3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1" spc="7" dirty="0">
                <a:solidFill>
                  <a:srgbClr val="FFFFFF"/>
                </a:solidFill>
                <a:latin typeface="Arial"/>
                <a:cs typeface="Arial"/>
              </a:rPr>
              <a:t>R50</a:t>
            </a:r>
            <a:r>
              <a:rPr lang="en-US" sz="2001" spc="7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001" dirty="0">
              <a:latin typeface="Arial"/>
              <a:cs typeface="Arial"/>
            </a:endParaRPr>
          </a:p>
          <a:p>
            <a:pPr marL="1636742" lvl="1" indent="-259950">
              <a:spcBef>
                <a:spcPts val="412"/>
              </a:spcBef>
              <a:buChar char="•"/>
              <a:tabLst>
                <a:tab pos="1637590" algn="l"/>
                <a:tab pos="1638436" algn="l"/>
              </a:tabLst>
            </a:pPr>
            <a:r>
              <a:rPr lang="en-US" sz="2001" dirty="0">
                <a:solidFill>
                  <a:srgbClr val="FFFFFF"/>
                </a:solidFill>
                <a:latin typeface="Arial"/>
                <a:cs typeface="Arial"/>
              </a:rPr>
              <a:t>Surface Processes and Landforms </a:t>
            </a:r>
            <a:r>
              <a:rPr sz="2001" dirty="0">
                <a:solidFill>
                  <a:srgbClr val="FFFFFF"/>
                </a:solidFill>
                <a:latin typeface="Arial"/>
                <a:cs typeface="Arial"/>
              </a:rPr>
              <a:t>Lab</a:t>
            </a:r>
            <a:endParaRPr lang="en-US" sz="2001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636742" lvl="1" indent="-259950">
              <a:spcBef>
                <a:spcPts val="412"/>
              </a:spcBef>
              <a:buChar char="•"/>
              <a:tabLst>
                <a:tab pos="1637590" algn="l"/>
                <a:tab pos="1638436" algn="l"/>
              </a:tabLst>
            </a:pPr>
            <a:r>
              <a:rPr lang="en-US" sz="2001" dirty="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https://www.geog.ntu.edu.tw/index.php/tw/people/professor/139-faculty/c-tw-cjyang/2931-profile-cjyang-tw</a:t>
            </a:r>
            <a:endParaRPr lang="en-US" sz="2001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636742" lvl="1" indent="-259950">
              <a:spcBef>
                <a:spcPts val="412"/>
              </a:spcBef>
              <a:buChar char="•"/>
              <a:tabLst>
                <a:tab pos="1637590" algn="l"/>
                <a:tab pos="1638436" algn="l"/>
              </a:tabLst>
            </a:pPr>
            <a:endParaRPr sz="2001" dirty="0">
              <a:latin typeface="Arial"/>
              <a:cs typeface="Arial"/>
            </a:endParaRPr>
          </a:p>
          <a:p>
            <a:pPr marL="839963" lvl="1">
              <a:spcBef>
                <a:spcPts val="13"/>
              </a:spcBef>
              <a:buClr>
                <a:srgbClr val="FFFFFF"/>
              </a:buClr>
              <a:buFont typeface="Arial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1116845" indent="-259950">
              <a:buFont typeface="Arial"/>
              <a:buChar char="•"/>
              <a:tabLst>
                <a:tab pos="1118539" algn="l"/>
              </a:tabLst>
            </a:pPr>
            <a:r>
              <a:rPr dirty="0">
                <a:latin typeface="微軟正黑體"/>
                <a:cs typeface="微軟正黑體"/>
              </a:rPr>
              <a:t>莊振義老師 </a:t>
            </a:r>
            <a:r>
              <a:rPr spc="80" dirty="0">
                <a:latin typeface="微軟正黑體"/>
                <a:cs typeface="微軟正黑體"/>
              </a:rPr>
              <a:t> </a:t>
            </a:r>
            <a:r>
              <a:rPr spc="-7" dirty="0"/>
              <a:t>Prof.</a:t>
            </a:r>
            <a:r>
              <a:rPr spc="-27" dirty="0"/>
              <a:t> </a:t>
            </a:r>
            <a:r>
              <a:rPr spc="-13" dirty="0"/>
              <a:t>Jehn-Yih</a:t>
            </a:r>
            <a:r>
              <a:rPr spc="-20" dirty="0"/>
              <a:t> </a:t>
            </a:r>
            <a:r>
              <a:rPr dirty="0"/>
              <a:t>Juang</a:t>
            </a:r>
          </a:p>
          <a:p>
            <a:pPr marL="1636742" lvl="1" indent="-259950">
              <a:spcBef>
                <a:spcPts val="327"/>
              </a:spcBef>
              <a:buChar char="•"/>
              <a:tabLst>
                <a:tab pos="1637590" algn="l"/>
                <a:tab pos="1638436" algn="l"/>
              </a:tabLst>
            </a:pPr>
            <a:r>
              <a:rPr sz="2001" dirty="0">
                <a:solidFill>
                  <a:srgbClr val="FFFFFF"/>
                </a:solidFill>
                <a:latin typeface="Arial"/>
                <a:cs typeface="Arial"/>
                <a:hlinkClick r:id="rId5"/>
              </a:rPr>
              <a:t>jjuang@ntu.edu.tw, </a:t>
            </a:r>
            <a:r>
              <a:rPr sz="2001" dirty="0">
                <a:solidFill>
                  <a:srgbClr val="FFFFFF"/>
                </a:solidFill>
                <a:latin typeface="Arial"/>
                <a:cs typeface="Arial"/>
              </a:rPr>
              <a:t>02-33665837,</a:t>
            </a:r>
            <a:r>
              <a:rPr sz="2001" spc="2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1" spc="7" dirty="0">
                <a:solidFill>
                  <a:srgbClr val="FFFFFF"/>
                </a:solidFill>
                <a:latin typeface="Arial"/>
                <a:cs typeface="Arial"/>
              </a:rPr>
              <a:t>R506</a:t>
            </a:r>
            <a:endParaRPr sz="2001" dirty="0">
              <a:latin typeface="Arial"/>
              <a:cs typeface="Arial"/>
            </a:endParaRPr>
          </a:p>
          <a:p>
            <a:pPr marL="1636742" lvl="1" indent="-259950">
              <a:spcBef>
                <a:spcPts val="412"/>
              </a:spcBef>
              <a:buChar char="•"/>
              <a:tabLst>
                <a:tab pos="1637590" algn="l"/>
                <a:tab pos="1638436" algn="l"/>
              </a:tabLst>
            </a:pPr>
            <a:r>
              <a:rPr sz="2001" dirty="0">
                <a:solidFill>
                  <a:srgbClr val="FFFFFF"/>
                </a:solidFill>
                <a:latin typeface="Arial"/>
                <a:cs typeface="Arial"/>
              </a:rPr>
              <a:t>Surface-Atmosphere Interactions</a:t>
            </a:r>
            <a:r>
              <a:rPr sz="2001" spc="2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1" dirty="0">
                <a:solidFill>
                  <a:srgbClr val="FFFFFF"/>
                </a:solidFill>
                <a:latin typeface="Arial"/>
                <a:cs typeface="Arial"/>
              </a:rPr>
              <a:t>Lab</a:t>
            </a:r>
            <a:endParaRPr sz="2001" dirty="0">
              <a:latin typeface="Arial"/>
              <a:cs typeface="Arial"/>
            </a:endParaRPr>
          </a:p>
          <a:p>
            <a:pPr marL="1636742" lvl="1" indent="-259950">
              <a:spcBef>
                <a:spcPts val="380"/>
              </a:spcBef>
              <a:buChar char="•"/>
              <a:tabLst>
                <a:tab pos="1637590" algn="l"/>
                <a:tab pos="1638436" algn="l"/>
              </a:tabLst>
            </a:pPr>
            <a:r>
              <a:rPr sz="2001" dirty="0">
                <a:solidFill>
                  <a:srgbClr val="FFFFFF"/>
                </a:solidFill>
                <a:latin typeface="Arial"/>
                <a:cs typeface="Arial"/>
                <a:hlinkClick r:id="rId6"/>
              </a:rPr>
              <a:t>https://sites.google.com/view/jjuang</a:t>
            </a:r>
            <a:endParaRPr lang="en-US" sz="2001" dirty="0">
              <a:solidFill>
                <a:srgbClr val="FFFFFF"/>
              </a:solidFill>
              <a:latin typeface="Arial"/>
              <a:cs typeface="Arial"/>
            </a:endParaRPr>
          </a:p>
          <a:p>
            <a:pPr marL="839963" lvl="1">
              <a:buClr>
                <a:srgbClr val="FFFFFF"/>
              </a:buClr>
            </a:pPr>
            <a:endParaRPr sz="2001" dirty="0">
              <a:latin typeface="Arial"/>
              <a:cs typeface="Arial"/>
            </a:endParaRPr>
          </a:p>
          <a:p>
            <a:pPr marL="1116845" indent="-259950">
              <a:spcBef>
                <a:spcPts val="1533"/>
              </a:spcBef>
              <a:buFont typeface="Arial"/>
              <a:buChar char="•"/>
              <a:tabLst>
                <a:tab pos="1118539" algn="l"/>
              </a:tabLst>
            </a:pPr>
            <a:r>
              <a:rPr spc="-7" dirty="0">
                <a:latin typeface="微軟正黑體"/>
                <a:cs typeface="微軟正黑體"/>
              </a:rPr>
              <a:t>黃倬英老師 </a:t>
            </a:r>
            <a:r>
              <a:rPr spc="107" dirty="0">
                <a:latin typeface="微軟正黑體"/>
                <a:cs typeface="微軟正黑體"/>
              </a:rPr>
              <a:t> </a:t>
            </a:r>
            <a:r>
              <a:rPr spc="-7" dirty="0"/>
              <a:t>Prof.</a:t>
            </a:r>
            <a:r>
              <a:rPr spc="-20" dirty="0"/>
              <a:t> </a:t>
            </a:r>
            <a:r>
              <a:rPr dirty="0"/>
              <a:t>Choy</a:t>
            </a:r>
            <a:r>
              <a:rPr spc="-7" dirty="0"/>
              <a:t> </a:t>
            </a:r>
            <a:r>
              <a:rPr dirty="0"/>
              <a:t>Huang</a:t>
            </a:r>
          </a:p>
          <a:p>
            <a:pPr marL="1636742" lvl="1" indent="-259950">
              <a:spcBef>
                <a:spcPts val="353"/>
              </a:spcBef>
              <a:buChar char="•"/>
              <a:tabLst>
                <a:tab pos="1637590" algn="l"/>
                <a:tab pos="1638436" algn="l"/>
              </a:tabLst>
            </a:pPr>
            <a:r>
              <a:rPr sz="2001" dirty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choying@ntu.edu.tw, </a:t>
            </a:r>
            <a:r>
              <a:rPr sz="2001" dirty="0">
                <a:solidFill>
                  <a:srgbClr val="FFFFFF"/>
                </a:solidFill>
                <a:latin typeface="Arial"/>
                <a:cs typeface="Arial"/>
              </a:rPr>
              <a:t>02-33663733,</a:t>
            </a:r>
            <a:r>
              <a:rPr sz="2001" spc="2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1" spc="7" dirty="0">
                <a:solidFill>
                  <a:srgbClr val="FFFFFF"/>
                </a:solidFill>
                <a:latin typeface="Arial"/>
                <a:cs typeface="Arial"/>
              </a:rPr>
              <a:t>R605</a:t>
            </a:r>
            <a:endParaRPr sz="2001" dirty="0">
              <a:latin typeface="Arial"/>
              <a:cs typeface="Arial"/>
            </a:endParaRPr>
          </a:p>
          <a:p>
            <a:pPr marL="1636742" lvl="1" indent="-259950">
              <a:spcBef>
                <a:spcPts val="379"/>
              </a:spcBef>
              <a:buChar char="•"/>
              <a:tabLst>
                <a:tab pos="1637590" algn="l"/>
                <a:tab pos="1638436" algn="l"/>
              </a:tabLst>
            </a:pPr>
            <a:r>
              <a:rPr sz="2001" dirty="0">
                <a:solidFill>
                  <a:srgbClr val="FFFFFF"/>
                </a:solidFill>
                <a:latin typeface="Arial"/>
                <a:cs typeface="Arial"/>
              </a:rPr>
              <a:t>Choy’s Ecology and </a:t>
            </a:r>
            <a:r>
              <a:rPr sz="2001" spc="7" dirty="0">
                <a:solidFill>
                  <a:srgbClr val="FFFFFF"/>
                </a:solidFill>
                <a:latin typeface="Arial"/>
                <a:cs typeface="Arial"/>
              </a:rPr>
              <a:t>Remote </a:t>
            </a:r>
            <a:r>
              <a:rPr sz="2001" dirty="0">
                <a:solidFill>
                  <a:srgbClr val="FFFFFF"/>
                </a:solidFill>
                <a:latin typeface="Arial"/>
                <a:cs typeface="Arial"/>
              </a:rPr>
              <a:t>Sensing</a:t>
            </a:r>
            <a:r>
              <a:rPr sz="2001" spc="2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1" dirty="0">
                <a:solidFill>
                  <a:srgbClr val="FFFFFF"/>
                </a:solidFill>
                <a:latin typeface="Arial"/>
                <a:cs typeface="Arial"/>
              </a:rPr>
              <a:t>Lab</a:t>
            </a:r>
            <a:endParaRPr sz="2001" dirty="0">
              <a:latin typeface="Arial"/>
              <a:cs typeface="Arial"/>
            </a:endParaRPr>
          </a:p>
          <a:p>
            <a:pPr marL="1636742" lvl="1" indent="-259950">
              <a:spcBef>
                <a:spcPts val="413"/>
              </a:spcBef>
              <a:buChar char="•"/>
              <a:tabLst>
                <a:tab pos="1637590" algn="l"/>
                <a:tab pos="1638436" algn="l"/>
              </a:tabLst>
            </a:pPr>
            <a:r>
              <a:rPr sz="2001" dirty="0">
                <a:solidFill>
                  <a:srgbClr val="FFFFFF"/>
                </a:solidFill>
                <a:latin typeface="Arial"/>
                <a:cs typeface="Arial"/>
                <a:hlinkClick r:id="rId8"/>
              </a:rPr>
              <a:t>https://sites.google.com/site/choyhuang/</a:t>
            </a:r>
            <a:endParaRPr lang="en-US" sz="2001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636742" lvl="1" indent="-259950">
              <a:spcBef>
                <a:spcPts val="413"/>
              </a:spcBef>
              <a:buChar char="•"/>
              <a:tabLst>
                <a:tab pos="1637590" algn="l"/>
                <a:tab pos="1638436" algn="l"/>
              </a:tabLst>
            </a:pPr>
            <a:endParaRPr sz="2001" dirty="0">
              <a:latin typeface="Arial"/>
              <a:cs typeface="Arial"/>
            </a:endParaRPr>
          </a:p>
        </p:txBody>
      </p:sp>
      <p:pic>
        <p:nvPicPr>
          <p:cNvPr id="5" name="圖片 4" descr="一張含有 人的臉孔, 人員, 服裝, 前額 的圖片&#10;&#10;AI 產生的內容可能不正確。">
            <a:extLst>
              <a:ext uri="{FF2B5EF4-FFF2-40B4-BE49-F238E27FC236}">
                <a16:creationId xmlns:a16="http://schemas.microsoft.com/office/drawing/2014/main" id="{E3C4D9BF-4290-2B31-589F-493F6AD78A4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99"/>
          <a:stretch>
            <a:fillRect/>
          </a:stretch>
        </p:blipFill>
        <p:spPr>
          <a:xfrm>
            <a:off x="1693069" y="3183037"/>
            <a:ext cx="1492557" cy="1796685"/>
          </a:xfrm>
          <a:prstGeom prst="rect">
            <a:avLst/>
          </a:prstGeom>
        </p:spPr>
      </p:pic>
      <p:pic>
        <p:nvPicPr>
          <p:cNvPr id="7" name="圖片 6" descr="一張含有 人員, 戶外, 人的臉孔, 天空 的圖片&#10;&#10;AI 產生的內容可能不正確。">
            <a:extLst>
              <a:ext uri="{FF2B5EF4-FFF2-40B4-BE49-F238E27FC236}">
                <a16:creationId xmlns:a16="http://schemas.microsoft.com/office/drawing/2014/main" id="{40F37B98-DADC-98E2-D26E-36A8D818656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8" b="2900"/>
          <a:stretch>
            <a:fillRect/>
          </a:stretch>
        </p:blipFill>
        <p:spPr>
          <a:xfrm>
            <a:off x="1693069" y="1038225"/>
            <a:ext cx="1492557" cy="1796684"/>
          </a:xfrm>
          <a:prstGeom prst="rect">
            <a:avLst/>
          </a:prstGeom>
        </p:spPr>
      </p:pic>
      <p:pic>
        <p:nvPicPr>
          <p:cNvPr id="9" name="圖片 8" descr="一張含有 人的臉孔, 人員, 前額, 微笑 的圖片&#10;&#10;AI 產生的內容可能不正確。">
            <a:extLst>
              <a:ext uri="{FF2B5EF4-FFF2-40B4-BE49-F238E27FC236}">
                <a16:creationId xmlns:a16="http://schemas.microsoft.com/office/drawing/2014/main" id="{A0893A1D-50AB-CD75-11A1-E9DE6A169F4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069" y="5327851"/>
            <a:ext cx="1492557" cy="179668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2A635D-0E75-4233-A5C8-24914F9E30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299925" y="903508"/>
            <a:ext cx="3936944" cy="5956984"/>
          </a:xfrm>
          <a:prstGeom prst="rect">
            <a:avLst/>
          </a:prstGeom>
        </p:spPr>
        <p:txBody>
          <a:bodyPr vert="horz" wrap="square" lIns="0" tIns="55214" rIns="0" bIns="0" rtlCol="0">
            <a:spAutoFit/>
          </a:bodyPr>
          <a:lstStyle/>
          <a:p>
            <a:pPr marL="381030" indent="-381030" algn="just" defTabSz="969776">
              <a:spcBef>
                <a:spcPts val="433"/>
              </a:spcBef>
              <a:buFont typeface="Arial" panose="020B0604020202020204" pitchFamily="34" charset="0"/>
              <a:buChar char="•"/>
              <a:tabLst>
                <a:tab pos="690965" algn="l"/>
                <a:tab pos="691637" algn="l"/>
              </a:tabLst>
            </a:pPr>
            <a:r>
              <a:rPr lang="zh-TW" altLang="en-US" sz="2001" spc="-5" dirty="0">
                <a:solidFill>
                  <a:schemeClr val="bg1"/>
                </a:solidFill>
                <a:latin typeface="微軟正黑體"/>
              </a:rPr>
              <a:t>李孟聿 </a:t>
            </a:r>
            <a:r>
              <a:rPr lang="en-US" altLang="zh-TW" sz="2001" spc="-5" dirty="0">
                <a:solidFill>
                  <a:schemeClr val="bg1"/>
                </a:solidFill>
                <a:latin typeface="微軟正黑體"/>
              </a:rPr>
              <a:t>Meng-Yu Lee</a:t>
            </a:r>
            <a:endParaRPr lang="en-US" sz="2001" dirty="0">
              <a:solidFill>
                <a:schemeClr val="bg1"/>
              </a:solidFill>
              <a:latin typeface="Arial"/>
              <a:cs typeface="Arial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690965" indent="-263996" defTabSz="969776">
              <a:spcBef>
                <a:spcPts val="433"/>
              </a:spcBef>
              <a:buFontTx/>
              <a:buChar char="•"/>
              <a:tabLst>
                <a:tab pos="690965" algn="l"/>
                <a:tab pos="691637" algn="l"/>
              </a:tabLst>
            </a:pPr>
            <a:r>
              <a:rPr sz="2001" dirty="0">
                <a:solidFill>
                  <a:schemeClr val="bg1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</a:t>
            </a:r>
            <a:r>
              <a:rPr lang="en-US" sz="2001" dirty="0">
                <a:solidFill>
                  <a:schemeClr val="bg1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13228016</a:t>
            </a:r>
            <a:r>
              <a:rPr sz="2001" dirty="0">
                <a:solidFill>
                  <a:schemeClr val="bg1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@ntu.edu.tw</a:t>
            </a:r>
            <a:endParaRPr sz="2001" dirty="0">
              <a:solidFill>
                <a:schemeClr val="bg1"/>
              </a:solidFill>
              <a:latin typeface="Arial"/>
              <a:cs typeface="Arial"/>
            </a:endParaRPr>
          </a:p>
          <a:p>
            <a:pPr marL="633721" indent="-206749" defTabSz="969776">
              <a:spcBef>
                <a:spcPts val="328"/>
              </a:spcBef>
              <a:buFontTx/>
              <a:buChar char="•"/>
              <a:tabLst>
                <a:tab pos="633721" algn="l"/>
                <a:tab pos="634395" algn="l"/>
              </a:tabLst>
            </a:pPr>
            <a:r>
              <a:rPr sz="2001" dirty="0">
                <a:solidFill>
                  <a:schemeClr val="bg1"/>
                </a:solidFill>
                <a:latin typeface="Arial"/>
                <a:cs typeface="Arial"/>
              </a:rPr>
              <a:t>02-3366583</a:t>
            </a:r>
            <a:r>
              <a:rPr lang="en-US" altLang="zh-TW" sz="2001" dirty="0">
                <a:solidFill>
                  <a:schemeClr val="bg1"/>
                </a:solidFill>
                <a:latin typeface="Arial"/>
                <a:ea typeface="新細明體" panose="02020500000000000000" pitchFamily="18" charset="-120"/>
                <a:cs typeface="Arial"/>
              </a:rPr>
              <a:t>0</a:t>
            </a:r>
            <a:r>
              <a:rPr sz="2001" dirty="0">
                <a:solidFill>
                  <a:schemeClr val="bg1"/>
                </a:solidFill>
                <a:latin typeface="Arial"/>
                <a:cs typeface="Arial"/>
              </a:rPr>
              <a:t>,</a:t>
            </a:r>
            <a:r>
              <a:rPr sz="2001" spc="4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001" spc="5" dirty="0">
                <a:solidFill>
                  <a:schemeClr val="bg1"/>
                </a:solidFill>
                <a:latin typeface="Arial"/>
                <a:cs typeface="Arial"/>
              </a:rPr>
              <a:t>R50</a:t>
            </a:r>
            <a:r>
              <a:rPr lang="en-US" altLang="zh-TW" sz="2001" spc="5" dirty="0">
                <a:solidFill>
                  <a:schemeClr val="bg1"/>
                </a:solidFill>
                <a:latin typeface="Arial"/>
                <a:ea typeface="新細明體" panose="02020500000000000000" pitchFamily="18" charset="-120"/>
                <a:cs typeface="Arial"/>
              </a:rPr>
              <a:t>3</a:t>
            </a:r>
            <a:endParaRPr sz="2001" dirty="0">
              <a:solidFill>
                <a:schemeClr val="bg1"/>
              </a:solidFill>
              <a:latin typeface="Arial"/>
              <a:cs typeface="Arial"/>
            </a:endParaRPr>
          </a:p>
          <a:p>
            <a:pPr marL="633721" indent="-206749" defTabSz="969776">
              <a:spcBef>
                <a:spcPts val="201"/>
              </a:spcBef>
              <a:buFontTx/>
              <a:buChar char="•"/>
              <a:tabLst>
                <a:tab pos="633721" algn="l"/>
                <a:tab pos="634395" algn="l"/>
              </a:tabLst>
            </a:pPr>
            <a:r>
              <a:rPr sz="2001" dirty="0">
                <a:solidFill>
                  <a:schemeClr val="bg1"/>
                </a:solidFill>
                <a:latin typeface="Arial"/>
                <a:cs typeface="Arial"/>
              </a:rPr>
              <a:t>Advisor: </a:t>
            </a:r>
            <a:r>
              <a:rPr lang="en-US" altLang="zh-TW" sz="2001" spc="5" dirty="0">
                <a:solidFill>
                  <a:schemeClr val="bg1"/>
                </a:solidFill>
                <a:latin typeface="Arial"/>
                <a:ea typeface="新細明體" panose="02020500000000000000" pitchFamily="18" charset="-120"/>
                <a:cs typeface="Arial"/>
              </a:rPr>
              <a:t>Ci-Jian Yang</a:t>
            </a:r>
            <a:endParaRPr sz="2001" dirty="0">
              <a:solidFill>
                <a:schemeClr val="bg1"/>
              </a:solidFill>
              <a:latin typeface="Arial"/>
              <a:cs typeface="Arial"/>
            </a:endParaRPr>
          </a:p>
          <a:p>
            <a:pPr defTabSz="969776"/>
            <a:endParaRPr lang="en-US" sz="200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defTabSz="969776"/>
            <a:endParaRPr lang="en-US" sz="200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defTabSz="969776"/>
            <a:endParaRPr sz="200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6155" indent="-332688" defTabSz="969776">
              <a:spcBef>
                <a:spcPts val="1327"/>
              </a:spcBef>
              <a:buFont typeface="Arial"/>
              <a:buChar char="•"/>
              <a:tabLst>
                <a:tab pos="346155" algn="l"/>
                <a:tab pos="346829" algn="l"/>
              </a:tabLst>
            </a:pPr>
            <a:r>
              <a:rPr lang="zh-TW" altLang="en-US" sz="2001" spc="-5" dirty="0">
                <a:solidFill>
                  <a:schemeClr val="bg1"/>
                </a:solidFill>
                <a:latin typeface="微軟正黑體"/>
                <a:cs typeface="微軟正黑體"/>
              </a:rPr>
              <a:t>林孝澍</a:t>
            </a:r>
            <a:r>
              <a:rPr sz="2001" spc="-5" dirty="0">
                <a:solidFill>
                  <a:schemeClr val="bg1"/>
                </a:solidFill>
                <a:latin typeface="微軟正黑體"/>
                <a:cs typeface="微軟正黑體"/>
              </a:rPr>
              <a:t> </a:t>
            </a:r>
            <a:r>
              <a:rPr sz="2001" spc="32" dirty="0">
                <a:solidFill>
                  <a:schemeClr val="bg1"/>
                </a:solidFill>
                <a:latin typeface="微軟正黑體"/>
                <a:cs typeface="微軟正黑體"/>
              </a:rPr>
              <a:t> </a:t>
            </a:r>
            <a:r>
              <a:rPr lang="en-US" sz="2001" spc="-27" dirty="0">
                <a:solidFill>
                  <a:schemeClr val="bg1"/>
                </a:solidFill>
                <a:latin typeface="Arial"/>
                <a:cs typeface="Arial"/>
              </a:rPr>
              <a:t>Siau-Shu Lin </a:t>
            </a:r>
            <a:endParaRPr sz="2001" dirty="0">
              <a:solidFill>
                <a:schemeClr val="bg1"/>
              </a:solidFill>
              <a:latin typeface="Arial"/>
              <a:cs typeface="Arial"/>
            </a:endParaRPr>
          </a:p>
          <a:p>
            <a:pPr marL="633721" lvl="1" indent="-206749" defTabSz="969776">
              <a:spcBef>
                <a:spcPts val="287"/>
              </a:spcBef>
              <a:buFontTx/>
              <a:buChar char="•"/>
              <a:tabLst>
                <a:tab pos="633721" algn="l"/>
                <a:tab pos="634395" algn="l"/>
              </a:tabLst>
            </a:pPr>
            <a:r>
              <a:rPr lang="en-US" sz="2001" dirty="0">
                <a:solidFill>
                  <a:schemeClr val="bg1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r13228022@ntu.edu.tw</a:t>
            </a:r>
            <a:endParaRPr lang="en-US" sz="2001" dirty="0">
              <a:solidFill>
                <a:schemeClr val="bg1"/>
              </a:solidFill>
              <a:latin typeface="Arial"/>
              <a:cs typeface="Arial"/>
            </a:endParaRPr>
          </a:p>
          <a:p>
            <a:pPr marL="633721" lvl="1" indent="-206749" defTabSz="969776">
              <a:spcBef>
                <a:spcPts val="287"/>
              </a:spcBef>
              <a:buFontTx/>
              <a:buChar char="•"/>
              <a:tabLst>
                <a:tab pos="633721" algn="l"/>
                <a:tab pos="634395" algn="l"/>
              </a:tabLst>
            </a:pPr>
            <a:r>
              <a:rPr sz="2001" dirty="0">
                <a:solidFill>
                  <a:schemeClr val="bg1"/>
                </a:solidFill>
                <a:latin typeface="Arial"/>
                <a:cs typeface="Arial"/>
              </a:rPr>
              <a:t>02-33665837,</a:t>
            </a:r>
            <a:r>
              <a:rPr sz="2001" spc="4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001" spc="5" dirty="0">
                <a:solidFill>
                  <a:schemeClr val="bg1"/>
                </a:solidFill>
                <a:latin typeface="Arial"/>
                <a:cs typeface="Arial"/>
              </a:rPr>
              <a:t>R506</a:t>
            </a:r>
            <a:endParaRPr sz="2001" dirty="0">
              <a:solidFill>
                <a:schemeClr val="bg1"/>
              </a:solidFill>
              <a:latin typeface="Arial"/>
              <a:cs typeface="Arial"/>
            </a:endParaRPr>
          </a:p>
          <a:p>
            <a:pPr marL="633721" lvl="1" indent="-206749" defTabSz="969776">
              <a:spcBef>
                <a:spcPts val="328"/>
              </a:spcBef>
              <a:buFontTx/>
              <a:buChar char="•"/>
              <a:tabLst>
                <a:tab pos="633721" algn="l"/>
                <a:tab pos="634395" algn="l"/>
              </a:tabLst>
            </a:pPr>
            <a:r>
              <a:rPr sz="2001" dirty="0">
                <a:solidFill>
                  <a:schemeClr val="bg1"/>
                </a:solidFill>
                <a:latin typeface="Arial"/>
                <a:cs typeface="Arial"/>
              </a:rPr>
              <a:t>Advisor: Jehn-Yih</a:t>
            </a:r>
            <a:r>
              <a:rPr sz="2001" spc="6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001" dirty="0">
                <a:solidFill>
                  <a:schemeClr val="bg1"/>
                </a:solidFill>
                <a:latin typeface="Arial"/>
                <a:cs typeface="Arial"/>
              </a:rPr>
              <a:t>Juang</a:t>
            </a:r>
          </a:p>
          <a:p>
            <a:pPr lvl="1" defTabSz="969776">
              <a:buClr>
                <a:srgbClr val="FFFFFF"/>
              </a:buClr>
            </a:pPr>
            <a:endParaRPr lang="en-US" sz="200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lvl="1" defTabSz="969776">
              <a:buClr>
                <a:srgbClr val="FFFFFF"/>
              </a:buClr>
              <a:buFont typeface="Arial"/>
              <a:buChar char="•"/>
            </a:pPr>
            <a:endParaRPr sz="200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20220" indent="-206749" defTabSz="969776">
              <a:spcBef>
                <a:spcPts val="1224"/>
              </a:spcBef>
              <a:buFont typeface="Arial"/>
              <a:buChar char="•"/>
              <a:tabLst>
                <a:tab pos="220890" algn="l"/>
              </a:tabLst>
            </a:pPr>
            <a:r>
              <a:rPr lang="zh-TW" altLang="en-US" sz="2001" spc="-5" dirty="0">
                <a:solidFill>
                  <a:schemeClr val="bg1"/>
                </a:solidFill>
                <a:latin typeface="微軟正黑體"/>
                <a:cs typeface="微軟正黑體"/>
              </a:rPr>
              <a:t>邱奎翰</a:t>
            </a:r>
            <a:r>
              <a:rPr sz="2001" spc="-5" dirty="0">
                <a:solidFill>
                  <a:schemeClr val="bg1"/>
                </a:solidFill>
                <a:latin typeface="微軟正黑體"/>
                <a:cs typeface="微軟正黑體"/>
              </a:rPr>
              <a:t> </a:t>
            </a:r>
            <a:r>
              <a:rPr sz="2001" spc="57" dirty="0">
                <a:solidFill>
                  <a:schemeClr val="bg1"/>
                </a:solidFill>
                <a:latin typeface="微軟正黑體"/>
                <a:cs typeface="微軟正黑體"/>
              </a:rPr>
              <a:t> </a:t>
            </a:r>
            <a:r>
              <a:rPr lang="en-US" sz="2001" dirty="0">
                <a:solidFill>
                  <a:schemeClr val="bg1"/>
                </a:solidFill>
                <a:latin typeface="Arial"/>
                <a:cs typeface="Arial"/>
              </a:rPr>
              <a:t>Kuei-Han Chiu</a:t>
            </a:r>
            <a:endParaRPr sz="2001" dirty="0">
              <a:solidFill>
                <a:schemeClr val="bg1"/>
              </a:solidFill>
              <a:latin typeface="Arial"/>
              <a:cs typeface="Arial"/>
            </a:endParaRPr>
          </a:p>
          <a:p>
            <a:pPr marL="633721" lvl="1" indent="-206749" defTabSz="969776">
              <a:spcBef>
                <a:spcPts val="360"/>
              </a:spcBef>
              <a:buFontTx/>
              <a:buChar char="•"/>
              <a:tabLst>
                <a:tab pos="633721" algn="l"/>
                <a:tab pos="634395" algn="l"/>
              </a:tabLst>
            </a:pPr>
            <a:r>
              <a:rPr lang="en-US" sz="2001" dirty="0">
                <a:solidFill>
                  <a:schemeClr val="bg1"/>
                </a:solidFill>
                <a:latin typeface="Arial"/>
                <a:cs typeface="Arial"/>
              </a:rPr>
              <a:t>hankc0215@gmail.com</a:t>
            </a:r>
            <a:endParaRPr sz="2001" dirty="0">
              <a:solidFill>
                <a:schemeClr val="bg1"/>
              </a:solidFill>
              <a:latin typeface="Arial"/>
              <a:cs typeface="Arial"/>
            </a:endParaRPr>
          </a:p>
          <a:p>
            <a:pPr marL="633721" lvl="1" indent="-206749" defTabSz="969776">
              <a:spcBef>
                <a:spcPts val="201"/>
              </a:spcBef>
              <a:buFontTx/>
              <a:buChar char="•"/>
              <a:tabLst>
                <a:tab pos="633721" algn="l"/>
                <a:tab pos="634395" algn="l"/>
              </a:tabLst>
            </a:pPr>
            <a:r>
              <a:rPr sz="2001" dirty="0">
                <a:solidFill>
                  <a:schemeClr val="bg1"/>
                </a:solidFill>
                <a:latin typeface="Arial"/>
                <a:cs typeface="Arial"/>
              </a:rPr>
              <a:t>02-33663733,</a:t>
            </a:r>
            <a:r>
              <a:rPr sz="2001" spc="4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001" spc="5" dirty="0">
                <a:solidFill>
                  <a:schemeClr val="bg1"/>
                </a:solidFill>
                <a:latin typeface="Arial"/>
                <a:cs typeface="Arial"/>
              </a:rPr>
              <a:t>R605</a:t>
            </a:r>
            <a:endParaRPr sz="2001" dirty="0">
              <a:solidFill>
                <a:schemeClr val="bg1"/>
              </a:solidFill>
              <a:latin typeface="Arial"/>
              <a:cs typeface="Arial"/>
            </a:endParaRPr>
          </a:p>
          <a:p>
            <a:pPr marL="633721" lvl="1" indent="-206749" defTabSz="969776">
              <a:spcBef>
                <a:spcPts val="328"/>
              </a:spcBef>
              <a:buFontTx/>
              <a:buChar char="•"/>
              <a:tabLst>
                <a:tab pos="633721" algn="l"/>
                <a:tab pos="634395" algn="l"/>
              </a:tabLst>
            </a:pPr>
            <a:r>
              <a:rPr sz="2001" dirty="0">
                <a:solidFill>
                  <a:schemeClr val="bg1"/>
                </a:solidFill>
                <a:latin typeface="Arial"/>
                <a:cs typeface="Arial"/>
              </a:rPr>
              <a:t>Advisor: </a:t>
            </a:r>
            <a:r>
              <a:rPr sz="2001" spc="5" dirty="0">
                <a:solidFill>
                  <a:schemeClr val="bg1"/>
                </a:solidFill>
                <a:latin typeface="Arial"/>
                <a:cs typeface="Arial"/>
              </a:rPr>
              <a:t>Choy</a:t>
            </a:r>
            <a:r>
              <a:rPr sz="2001" spc="2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001" spc="5" dirty="0">
                <a:solidFill>
                  <a:schemeClr val="bg1"/>
                </a:solidFill>
                <a:latin typeface="Arial"/>
                <a:cs typeface="Arial"/>
              </a:rPr>
              <a:t>Huang</a:t>
            </a:r>
            <a:endParaRPr sz="200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26A1E4AB-683A-3102-17D9-D3BFEAC808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0374" y="297892"/>
            <a:ext cx="2444230" cy="591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3469" defTabSz="969776">
              <a:spcBef>
                <a:spcPts val="107"/>
              </a:spcBef>
            </a:pPr>
            <a:r>
              <a:rPr lang="en-US" altLang="zh-TW" sz="3733" b="1" spc="-207" dirty="0">
                <a:solidFill>
                  <a:srgbClr val="FFFFFF"/>
                </a:solidFill>
              </a:rPr>
              <a:t>T</a:t>
            </a:r>
            <a:r>
              <a:rPr lang="en-US" altLang="zh-TW" sz="3733" b="1" spc="11" dirty="0">
                <a:solidFill>
                  <a:srgbClr val="FFFFFF"/>
                </a:solidFill>
              </a:rPr>
              <a:t>A</a:t>
            </a:r>
            <a:r>
              <a:rPr lang="en-US" altLang="zh-TW" sz="3733" b="1" spc="-5" dirty="0">
                <a:solidFill>
                  <a:srgbClr val="FFFFFF"/>
                </a:solidFill>
              </a:rPr>
              <a:t>s</a:t>
            </a:r>
            <a:endParaRPr lang="en-US" altLang="zh-TW" sz="3733" dirty="0">
              <a:solidFill>
                <a:prstClr val="black"/>
              </a:solidFill>
            </a:endParaRPr>
          </a:p>
        </p:txBody>
      </p:sp>
      <p:pic>
        <p:nvPicPr>
          <p:cNvPr id="3" name="圖片 2" descr="一張含有 人員, 人的臉孔, 服裝, 學位服 的圖片&#10;&#10;AI 產生的內容可能不正確。">
            <a:extLst>
              <a:ext uri="{FF2B5EF4-FFF2-40B4-BE49-F238E27FC236}">
                <a16:creationId xmlns:a16="http://schemas.microsoft.com/office/drawing/2014/main" id="{FFAD69BA-9D19-0859-44C9-C31076A4AA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257" y="903508"/>
            <a:ext cx="1887312" cy="1882279"/>
          </a:xfrm>
          <a:prstGeom prst="rect">
            <a:avLst/>
          </a:prstGeom>
        </p:spPr>
      </p:pic>
      <p:pic>
        <p:nvPicPr>
          <p:cNvPr id="6" name="圖片 5" descr="一張含有 人員, 人的臉孔, 下巴, 眉毛 的圖片&#10;&#10;AI 產生的內容可能不正確。">
            <a:extLst>
              <a:ext uri="{FF2B5EF4-FFF2-40B4-BE49-F238E27FC236}">
                <a16:creationId xmlns:a16="http://schemas.microsoft.com/office/drawing/2014/main" id="{17743F32-BC03-77B2-48EC-671B90901D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" t="10284" r="-2932" b="8562"/>
          <a:stretch>
            <a:fillRect/>
          </a:stretch>
        </p:blipFill>
        <p:spPr>
          <a:xfrm>
            <a:off x="2410167" y="3088287"/>
            <a:ext cx="1947493" cy="2026592"/>
          </a:xfrm>
          <a:prstGeom prst="rect">
            <a:avLst/>
          </a:prstGeom>
        </p:spPr>
      </p:pic>
      <p:pic>
        <p:nvPicPr>
          <p:cNvPr id="9" name="圖片 8" descr="一張含有 戶外, 植物, 草, 步槍 的圖片&#10;&#10;AI 產生的內容可能不正確。">
            <a:extLst>
              <a:ext uri="{FF2B5EF4-FFF2-40B4-BE49-F238E27FC236}">
                <a16:creationId xmlns:a16="http://schemas.microsoft.com/office/drawing/2014/main" id="{F9FC866C-6408-6413-EAAE-6FAB6F22985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 r="3770" b="24832"/>
          <a:stretch>
            <a:fillRect/>
          </a:stretch>
        </p:blipFill>
        <p:spPr>
          <a:xfrm>
            <a:off x="2419829" y="5417379"/>
            <a:ext cx="1928169" cy="1882278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84D5324-43F8-4DBB-B8F1-55BF8519F4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32899" y="1647914"/>
            <a:ext cx="6725939" cy="4973630"/>
          </a:xfrm>
          <a:prstGeom prst="rect">
            <a:avLst/>
          </a:prstGeom>
        </p:spPr>
        <p:txBody>
          <a:bodyPr vert="horz" wrap="square" lIns="0" tIns="60603" rIns="0" bIns="0" rtlCol="0">
            <a:spAutoFit/>
          </a:bodyPr>
          <a:lstStyle/>
          <a:p>
            <a:pPr marL="220220" indent="-206749" defTabSz="969776">
              <a:spcBef>
                <a:spcPts val="477"/>
              </a:spcBef>
              <a:buFontTx/>
              <a:buChar char="•"/>
              <a:tabLst>
                <a:tab pos="220890" algn="l"/>
              </a:tabLst>
            </a:pPr>
            <a:r>
              <a:rPr sz="2667" spc="11" dirty="0">
                <a:solidFill>
                  <a:srgbClr val="FFFFFF"/>
                </a:solidFill>
                <a:latin typeface="Arial"/>
                <a:cs typeface="Arial"/>
              </a:rPr>
              <a:t>Part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r>
              <a:rPr sz="2667" spc="11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lang="en-US" sz="2667" spc="11" dirty="0">
                <a:solidFill>
                  <a:srgbClr val="FFFFFF"/>
                </a:solidFill>
                <a:latin typeface="Arial"/>
                <a:cs typeface="Arial"/>
              </a:rPr>
              <a:t>Ci-Jian Yang</a:t>
            </a:r>
            <a:r>
              <a:rPr sz="2667" spc="16" dirty="0">
                <a:solidFill>
                  <a:srgbClr val="FFFFFF"/>
                </a:solidFill>
                <a:latin typeface="Arial"/>
                <a:cs typeface="Arial"/>
              </a:rPr>
              <a:t>):</a:t>
            </a:r>
            <a:r>
              <a:rPr sz="2667" spc="11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1" dirty="0">
                <a:solidFill>
                  <a:srgbClr val="FFFFFF"/>
                </a:solidFill>
                <a:latin typeface="Arial"/>
                <a:cs typeface="Arial"/>
              </a:rPr>
              <a:t>30%</a:t>
            </a:r>
            <a:endParaRPr sz="2667" dirty="0">
              <a:solidFill>
                <a:prstClr val="black"/>
              </a:solidFill>
              <a:latin typeface="Arial"/>
              <a:cs typeface="Arial"/>
            </a:endParaRPr>
          </a:p>
          <a:p>
            <a:pPr marL="633721" lvl="1" indent="-206749" defTabSz="969776">
              <a:spcBef>
                <a:spcPts val="313"/>
              </a:spcBef>
              <a:buFontTx/>
              <a:buChar char="•"/>
              <a:tabLst>
                <a:tab pos="634395" algn="l"/>
              </a:tabLst>
            </a:pPr>
            <a:r>
              <a:rPr sz="2267" dirty="0">
                <a:solidFill>
                  <a:schemeClr val="bg1"/>
                </a:solidFill>
                <a:latin typeface="Arial"/>
                <a:cs typeface="Arial"/>
              </a:rPr>
              <a:t>1 </a:t>
            </a:r>
            <a:r>
              <a:rPr lang="en-US" sz="2267" spc="-5" dirty="0">
                <a:solidFill>
                  <a:schemeClr val="bg1"/>
                </a:solidFill>
                <a:latin typeface="Arial"/>
                <a:cs typeface="Arial"/>
              </a:rPr>
              <a:t>Presentation:</a:t>
            </a:r>
            <a:r>
              <a:rPr lang="en-US" sz="2267" spc="-52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chemeClr val="bg1"/>
                </a:solidFill>
                <a:latin typeface="Arial"/>
                <a:cs typeface="Arial"/>
              </a:rPr>
              <a:t>10%</a:t>
            </a:r>
          </a:p>
          <a:p>
            <a:pPr marL="633721" lvl="1" indent="-206749" defTabSz="969776">
              <a:spcBef>
                <a:spcPts val="176"/>
              </a:spcBef>
              <a:buFontTx/>
              <a:buChar char="•"/>
              <a:tabLst>
                <a:tab pos="634395" algn="l"/>
              </a:tabLst>
            </a:pPr>
            <a:r>
              <a:rPr sz="2267" dirty="0">
                <a:solidFill>
                  <a:schemeClr val="bg1"/>
                </a:solidFill>
                <a:latin typeface="Arial"/>
                <a:cs typeface="Arial"/>
              </a:rPr>
              <a:t>1 Lab:</a:t>
            </a:r>
            <a:r>
              <a:rPr sz="2267" spc="-10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TW" sz="2267" spc="-5" dirty="0">
                <a:solidFill>
                  <a:schemeClr val="bg1"/>
                </a:solidFill>
                <a:latin typeface="Arial"/>
                <a:ea typeface="新細明體" panose="02020500000000000000" pitchFamily="18" charset="-120"/>
                <a:cs typeface="Arial"/>
              </a:rPr>
              <a:t>1</a:t>
            </a:r>
            <a:r>
              <a:rPr sz="2267" spc="-5" dirty="0">
                <a:solidFill>
                  <a:schemeClr val="bg1"/>
                </a:solidFill>
                <a:latin typeface="Arial"/>
                <a:cs typeface="Arial"/>
              </a:rPr>
              <a:t>0%</a:t>
            </a:r>
            <a:endParaRPr sz="2267" dirty="0">
              <a:solidFill>
                <a:schemeClr val="bg1"/>
              </a:solidFill>
              <a:latin typeface="Arial"/>
              <a:cs typeface="Arial"/>
            </a:endParaRPr>
          </a:p>
          <a:p>
            <a:pPr marL="633721" lvl="1" indent="-206749" defTabSz="969776">
              <a:spcBef>
                <a:spcPts val="255"/>
              </a:spcBef>
              <a:buFontTx/>
              <a:buChar char="•"/>
              <a:tabLst>
                <a:tab pos="634395" algn="l"/>
              </a:tabLst>
            </a:pPr>
            <a:r>
              <a:rPr sz="2267" dirty="0">
                <a:solidFill>
                  <a:schemeClr val="bg1"/>
                </a:solidFill>
                <a:latin typeface="Arial"/>
                <a:cs typeface="Arial"/>
              </a:rPr>
              <a:t>1 Field </a:t>
            </a:r>
            <a:r>
              <a:rPr sz="2267" spc="-16" dirty="0">
                <a:solidFill>
                  <a:schemeClr val="bg1"/>
                </a:solidFill>
                <a:latin typeface="Arial"/>
                <a:cs typeface="Arial"/>
              </a:rPr>
              <a:t>Trip:</a:t>
            </a:r>
            <a:r>
              <a:rPr sz="2267" spc="-10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267" spc="-5" dirty="0">
                <a:solidFill>
                  <a:schemeClr val="bg1"/>
                </a:solidFill>
                <a:latin typeface="Arial"/>
                <a:cs typeface="Arial"/>
              </a:rPr>
              <a:t>10%</a:t>
            </a:r>
            <a:endParaRPr sz="2267" dirty="0">
              <a:solidFill>
                <a:schemeClr val="bg1"/>
              </a:solidFill>
              <a:latin typeface="Arial"/>
              <a:cs typeface="Arial"/>
            </a:endParaRPr>
          </a:p>
          <a:p>
            <a:pPr lvl="1" defTabSz="969776">
              <a:spcBef>
                <a:spcPts val="52"/>
              </a:spcBef>
              <a:buClr>
                <a:srgbClr val="FFFFFF"/>
              </a:buClr>
              <a:buFont typeface="Arial"/>
              <a:buChar char="•"/>
            </a:pPr>
            <a:endParaRPr sz="22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20220" indent="-206749" defTabSz="969776">
              <a:buFontTx/>
              <a:buChar char="•"/>
              <a:tabLst>
                <a:tab pos="220890" algn="l"/>
              </a:tabLst>
            </a:pPr>
            <a:r>
              <a:rPr sz="2667" spc="11" dirty="0">
                <a:solidFill>
                  <a:schemeClr val="bg1"/>
                </a:solidFill>
                <a:latin typeface="Arial"/>
                <a:cs typeface="Arial"/>
              </a:rPr>
              <a:t>Part </a:t>
            </a:r>
            <a:r>
              <a:rPr sz="2667" spc="-5" dirty="0">
                <a:solidFill>
                  <a:schemeClr val="bg1"/>
                </a:solidFill>
                <a:latin typeface="Arial"/>
                <a:cs typeface="Arial"/>
              </a:rPr>
              <a:t>2 </a:t>
            </a:r>
            <a:r>
              <a:rPr sz="2667" dirty="0">
                <a:solidFill>
                  <a:schemeClr val="bg1"/>
                </a:solidFill>
                <a:latin typeface="Arial"/>
                <a:cs typeface="Arial"/>
              </a:rPr>
              <a:t>(Jehn-Yih </a:t>
            </a:r>
            <a:r>
              <a:rPr sz="2667" spc="11" dirty="0">
                <a:solidFill>
                  <a:schemeClr val="bg1"/>
                </a:solidFill>
                <a:latin typeface="Arial"/>
                <a:cs typeface="Arial"/>
              </a:rPr>
              <a:t>Juang):</a:t>
            </a:r>
            <a:r>
              <a:rPr sz="2667" spc="8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TW" sz="2667" spc="11" dirty="0">
                <a:solidFill>
                  <a:schemeClr val="bg1"/>
                </a:solidFill>
                <a:latin typeface="Arial"/>
                <a:cs typeface="Arial"/>
              </a:rPr>
              <a:t>3</a:t>
            </a:r>
            <a:r>
              <a:rPr sz="2667" spc="11" dirty="0">
                <a:solidFill>
                  <a:schemeClr val="bg1"/>
                </a:solidFill>
                <a:latin typeface="Arial"/>
                <a:cs typeface="Arial"/>
              </a:rPr>
              <a:t>0%</a:t>
            </a:r>
            <a:endParaRPr lang="en-US" sz="2667" spc="11" dirty="0">
              <a:solidFill>
                <a:schemeClr val="bg1"/>
              </a:solidFill>
              <a:latin typeface="Arial"/>
              <a:cs typeface="Arial"/>
            </a:endParaRPr>
          </a:p>
          <a:p>
            <a:pPr marL="633652" lvl="1" indent="-206749" defTabSz="969776">
              <a:buFontTx/>
              <a:buChar char="•"/>
              <a:tabLst>
                <a:tab pos="220890" algn="l"/>
              </a:tabLst>
            </a:pPr>
            <a:r>
              <a:rPr lang="en-US" altLang="zh-TW" sz="2267" dirty="0">
                <a:solidFill>
                  <a:schemeClr val="bg1"/>
                </a:solidFill>
                <a:latin typeface="Arial"/>
                <a:cs typeface="Arial"/>
              </a:rPr>
              <a:t>1 assignment 10% </a:t>
            </a:r>
          </a:p>
          <a:p>
            <a:pPr marL="633652" lvl="1" indent="-206749" defTabSz="969776">
              <a:buFontTx/>
              <a:buChar char="•"/>
              <a:tabLst>
                <a:tab pos="220890" algn="l"/>
              </a:tabLst>
            </a:pPr>
            <a:r>
              <a:rPr lang="en-US" altLang="zh-TW" sz="2267" dirty="0">
                <a:solidFill>
                  <a:schemeClr val="bg1"/>
                </a:solidFill>
                <a:latin typeface="Arial"/>
                <a:cs typeface="Arial"/>
              </a:rPr>
              <a:t>1 In-class discussion 10% </a:t>
            </a:r>
          </a:p>
          <a:p>
            <a:pPr marL="633652" lvl="1" indent="-206749" defTabSz="969776">
              <a:buFontTx/>
              <a:buChar char="•"/>
              <a:tabLst>
                <a:tab pos="220890" algn="l"/>
              </a:tabLst>
            </a:pPr>
            <a:r>
              <a:rPr lang="en-US" altLang="zh-TW" sz="2267" dirty="0">
                <a:solidFill>
                  <a:schemeClr val="bg1"/>
                </a:solidFill>
                <a:latin typeface="Arial"/>
                <a:cs typeface="Arial"/>
              </a:rPr>
              <a:t>1 Field trip report 10%</a:t>
            </a:r>
            <a:endParaRPr sz="2267" dirty="0">
              <a:solidFill>
                <a:schemeClr val="bg1"/>
              </a:solidFill>
              <a:latin typeface="Arial"/>
              <a:cs typeface="Arial"/>
            </a:endParaRPr>
          </a:p>
          <a:p>
            <a:pPr lvl="1" defTabSz="969776">
              <a:spcBef>
                <a:spcPts val="27"/>
              </a:spcBef>
              <a:buClr>
                <a:srgbClr val="FFFFFF"/>
              </a:buClr>
              <a:buFont typeface="Arial"/>
              <a:buChar char="•"/>
            </a:pPr>
            <a:endParaRPr sz="2267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20220" indent="-206749" defTabSz="969776">
              <a:spcBef>
                <a:spcPts val="5"/>
              </a:spcBef>
              <a:buFontTx/>
              <a:buChar char="•"/>
              <a:tabLst>
                <a:tab pos="220890" algn="l"/>
              </a:tabLst>
            </a:pPr>
            <a:r>
              <a:rPr sz="2667" spc="11" dirty="0">
                <a:solidFill>
                  <a:schemeClr val="bg1"/>
                </a:solidFill>
                <a:latin typeface="Arial"/>
                <a:cs typeface="Arial"/>
              </a:rPr>
              <a:t>Part </a:t>
            </a:r>
            <a:r>
              <a:rPr sz="2667" spc="-5" dirty="0">
                <a:solidFill>
                  <a:schemeClr val="bg1"/>
                </a:solidFill>
                <a:latin typeface="Arial"/>
                <a:cs typeface="Arial"/>
              </a:rPr>
              <a:t>3 </a:t>
            </a:r>
            <a:r>
              <a:rPr sz="2667" spc="11" dirty="0">
                <a:solidFill>
                  <a:schemeClr val="bg1"/>
                </a:solidFill>
                <a:latin typeface="Arial"/>
                <a:cs typeface="Arial"/>
              </a:rPr>
              <a:t>(Choy </a:t>
            </a:r>
            <a:r>
              <a:rPr sz="2667" spc="16" dirty="0">
                <a:solidFill>
                  <a:schemeClr val="bg1"/>
                </a:solidFill>
                <a:latin typeface="Arial"/>
                <a:cs typeface="Arial"/>
              </a:rPr>
              <a:t>Huang): </a:t>
            </a:r>
            <a:r>
              <a:rPr lang="en-US" altLang="zh-TW" sz="2667" spc="11" dirty="0">
                <a:solidFill>
                  <a:schemeClr val="bg1"/>
                </a:solidFill>
                <a:latin typeface="Arial"/>
                <a:cs typeface="Arial"/>
              </a:rPr>
              <a:t>4</a:t>
            </a:r>
            <a:r>
              <a:rPr sz="2667" spc="11" dirty="0">
                <a:solidFill>
                  <a:schemeClr val="bg1"/>
                </a:solidFill>
                <a:latin typeface="Arial"/>
                <a:cs typeface="Arial"/>
              </a:rPr>
              <a:t>0%</a:t>
            </a:r>
            <a:endParaRPr lang="en-US" sz="2667" spc="11" dirty="0">
              <a:solidFill>
                <a:schemeClr val="bg1"/>
              </a:solidFill>
              <a:latin typeface="Arial"/>
              <a:cs typeface="Arial"/>
            </a:endParaRPr>
          </a:p>
          <a:p>
            <a:pPr marL="633721" lvl="1" indent="-206749" defTabSz="969776">
              <a:spcBef>
                <a:spcPts val="313"/>
              </a:spcBef>
              <a:buFontTx/>
              <a:buChar char="•"/>
              <a:tabLst>
                <a:tab pos="634395" algn="l"/>
              </a:tabLst>
            </a:pPr>
            <a:r>
              <a:rPr lang="en-US" altLang="zh-TW" sz="2267" dirty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r>
              <a:rPr lang="en-US" altLang="zh-TW" sz="2267" spc="-5" dirty="0">
                <a:solidFill>
                  <a:srgbClr val="FFFFFF"/>
                </a:solidFill>
                <a:latin typeface="Arial"/>
                <a:cs typeface="Arial"/>
              </a:rPr>
              <a:t>Assignment:</a:t>
            </a:r>
            <a:r>
              <a:rPr lang="en-US" altLang="zh-TW" sz="2267" spc="-5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altLang="zh-TW" sz="2267" dirty="0">
                <a:solidFill>
                  <a:srgbClr val="FFFFFF"/>
                </a:solidFill>
                <a:latin typeface="Arial"/>
                <a:cs typeface="Arial"/>
              </a:rPr>
              <a:t>10%</a:t>
            </a:r>
          </a:p>
          <a:p>
            <a:pPr marL="633721" lvl="1" indent="-206749" defTabSz="969776">
              <a:spcBef>
                <a:spcPts val="313"/>
              </a:spcBef>
              <a:buFontTx/>
              <a:buChar char="•"/>
              <a:tabLst>
                <a:tab pos="634395" algn="l"/>
              </a:tabLst>
            </a:pPr>
            <a:r>
              <a:rPr lang="en-US" altLang="zh-TW" sz="2267" dirty="0">
                <a:solidFill>
                  <a:srgbClr val="FFFFFF"/>
                </a:solidFill>
                <a:latin typeface="Arial"/>
                <a:cs typeface="Arial"/>
              </a:rPr>
              <a:t>1 Final exam</a:t>
            </a:r>
            <a:r>
              <a:rPr lang="en-US" altLang="zh-TW" sz="2267" spc="-16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lang="en-US" altLang="zh-TW" sz="2267" spc="-10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altLang="zh-TW" sz="2267" spc="-5" dirty="0">
                <a:solidFill>
                  <a:srgbClr val="FFFFFF"/>
                </a:solidFill>
                <a:latin typeface="Arial"/>
                <a:cs typeface="Arial"/>
              </a:rPr>
              <a:t>30%</a:t>
            </a:r>
            <a:endParaRPr sz="2267" dirty="0">
              <a:solidFill>
                <a:srgbClr val="FFFF00"/>
              </a:solidFill>
              <a:latin typeface="Arial"/>
              <a:cs typeface="Arial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77AC2C4-3A9F-2615-3787-A863C94B5A2E}"/>
              </a:ext>
            </a:extLst>
          </p:cNvPr>
          <p:cNvSpPr txBox="1">
            <a:spLocks/>
          </p:cNvSpPr>
          <p:nvPr/>
        </p:nvSpPr>
        <p:spPr>
          <a:xfrm>
            <a:off x="820367" y="297887"/>
            <a:ext cx="1366466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6936">
              <a:spcBef>
                <a:spcPts val="133"/>
              </a:spcBef>
            </a:pPr>
            <a:r>
              <a:rPr lang="en-US" sz="3600" b="1" kern="0" spc="13"/>
              <a:t>G</a:t>
            </a:r>
            <a:r>
              <a:rPr lang="en-US" sz="3600" b="1" kern="0" spc="7"/>
              <a:t>r</a:t>
            </a:r>
            <a:r>
              <a:rPr lang="en-US" sz="3600" b="1" kern="0"/>
              <a:t>ad</a:t>
            </a:r>
            <a:r>
              <a:rPr lang="en-US" sz="3600" b="1" kern="0" spc="-7"/>
              <a:t>e</a:t>
            </a:r>
            <a:endParaRPr lang="en-US" sz="3600" kern="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5C82FD-F35E-4486-BC9E-79BFD7257B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7" y="297887"/>
            <a:ext cx="1366466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13" dirty="0"/>
              <a:t>G</a:t>
            </a:r>
            <a:r>
              <a:rPr sz="3600" b="1" spc="7" dirty="0"/>
              <a:t>r</a:t>
            </a:r>
            <a:r>
              <a:rPr sz="3600" b="1" dirty="0"/>
              <a:t>ad</a:t>
            </a:r>
            <a:r>
              <a:rPr sz="3600" b="1" spc="-7" dirty="0"/>
              <a:t>e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228429" y="1526256"/>
            <a:ext cx="8970758" cy="52708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4CADF6-B01F-4950-8765-00A3C5D7D8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8429" y="1048817"/>
            <a:ext cx="8970758" cy="6167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0367" y="297887"/>
            <a:ext cx="1366466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13" dirty="0"/>
              <a:t>G</a:t>
            </a:r>
            <a:r>
              <a:rPr sz="3600" b="1" spc="7" dirty="0"/>
              <a:t>r</a:t>
            </a:r>
            <a:r>
              <a:rPr sz="3600" b="1" dirty="0"/>
              <a:t>ad</a:t>
            </a:r>
            <a:r>
              <a:rPr sz="3600" b="1" spc="-7" dirty="0"/>
              <a:t>e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3164400" y="2462041"/>
            <a:ext cx="7828819" cy="0"/>
          </a:xfrm>
          <a:custGeom>
            <a:avLst/>
            <a:gdLst/>
            <a:ahLst/>
            <a:cxnLst/>
            <a:rect l="l" t="t" r="r" b="b"/>
            <a:pathLst>
              <a:path w="5871845">
                <a:moveTo>
                  <a:pt x="0" y="0"/>
                </a:moveTo>
                <a:lnTo>
                  <a:pt x="5871343" y="0"/>
                </a:lnTo>
              </a:path>
            </a:pathLst>
          </a:custGeom>
          <a:ln w="3252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3164400" y="2995268"/>
            <a:ext cx="7828819" cy="0"/>
          </a:xfrm>
          <a:custGeom>
            <a:avLst/>
            <a:gdLst/>
            <a:ahLst/>
            <a:cxnLst/>
            <a:rect l="l" t="t" r="r" b="b"/>
            <a:pathLst>
              <a:path w="5871845">
                <a:moveTo>
                  <a:pt x="0" y="0"/>
                </a:moveTo>
                <a:lnTo>
                  <a:pt x="5871343" y="0"/>
                </a:lnTo>
              </a:path>
            </a:pathLst>
          </a:custGeom>
          <a:ln w="3252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164393" y="3512814"/>
            <a:ext cx="7257341" cy="0"/>
          </a:xfrm>
          <a:custGeom>
            <a:avLst/>
            <a:gdLst/>
            <a:ahLst/>
            <a:cxnLst/>
            <a:rect l="l" t="t" r="r" b="b"/>
            <a:pathLst>
              <a:path w="5443220">
                <a:moveTo>
                  <a:pt x="0" y="0"/>
                </a:moveTo>
                <a:lnTo>
                  <a:pt x="5442844" y="0"/>
                </a:lnTo>
              </a:path>
            </a:pathLst>
          </a:custGeom>
          <a:ln w="3252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5CDA47-E4A6-4916-8E26-1E3726BB71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2E0799E-88A5-33F3-040B-36CBF2A08E42}"/>
              </a:ext>
            </a:extLst>
          </p:cNvPr>
          <p:cNvSpPr txBox="1">
            <a:spLocks/>
          </p:cNvSpPr>
          <p:nvPr/>
        </p:nvSpPr>
        <p:spPr>
          <a:xfrm>
            <a:off x="820372" y="297887"/>
            <a:ext cx="2083565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6936">
              <a:spcBef>
                <a:spcPts val="133"/>
              </a:spcBef>
            </a:pPr>
            <a:r>
              <a:rPr lang="en-US" sz="3600" b="1" kern="0"/>
              <a:t>Schedule</a:t>
            </a:r>
            <a:endParaRPr lang="en-US" sz="3600" kern="0" dirty="0"/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AA5837BE-8BC4-42D4-BCC4-22B59CFE7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537437"/>
              </p:ext>
            </p:extLst>
          </p:nvPr>
        </p:nvGraphicFramePr>
        <p:xfrm>
          <a:off x="182385" y="1238861"/>
          <a:ext cx="13048388" cy="54667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3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8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5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385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46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Week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4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4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Topics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4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Week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4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4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Topics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154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77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9/</a:t>
                      </a:r>
                      <a:r>
                        <a:rPr lang="en-US"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28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45"/>
                        </a:lnSpc>
                        <a:spcBef>
                          <a:spcPts val="175"/>
                        </a:spcBef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Introduction</a:t>
                      </a:r>
                      <a:endParaRPr sz="1500" dirty="0">
                        <a:latin typeface="Arial"/>
                        <a:cs typeface="Arial"/>
                      </a:endParaRPr>
                    </a:p>
                    <a:p>
                      <a:pPr marL="71120">
                        <a:lnSpc>
                          <a:spcPts val="1645"/>
                        </a:lnSpc>
                      </a:pPr>
                      <a:r>
                        <a:rPr sz="1500" spc="-35" dirty="0">
                          <a:solidFill>
                            <a:srgbClr val="FFFFFF"/>
                          </a:solidFill>
                          <a:latin typeface="微軟正黑體"/>
                          <a:cs typeface="微軟正黑體"/>
                        </a:rPr>
                        <a:t>課程簡介</a:t>
                      </a:r>
                      <a:endParaRPr sz="1500" dirty="0">
                        <a:latin typeface="微軟正黑體"/>
                        <a:cs typeface="微軟正黑體"/>
                      </a:endParaRPr>
                    </a:p>
                  </a:txBody>
                  <a:tcPr marL="0" marR="0" marT="2356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8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lang="en-US" altLang="zh-TW" sz="16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lang="en-US" altLang="zh-TW" sz="16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28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Climate system </a:t>
                      </a:r>
                      <a:r>
                        <a:rPr lang="zh-TW" altLang="en-US" sz="150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＆</a:t>
                      </a:r>
                      <a:r>
                        <a:rPr lang="en-US" altLang="zh-TW" sz="150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climate classification</a:t>
                      </a:r>
                    </a:p>
                    <a:p>
                      <a:r>
                        <a:rPr lang="zh-TW" altLang="en-US" sz="150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氣候系統與氣候分類</a:t>
                      </a:r>
                    </a:p>
                  </a:txBody>
                  <a:tcPr marL="0" marR="0" marT="2356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64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9/1</a:t>
                      </a:r>
                      <a:r>
                        <a:rPr lang="en-US"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2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45"/>
                        </a:lnSpc>
                        <a:spcBef>
                          <a:spcPts val="170"/>
                        </a:spcBef>
                      </a:pPr>
                      <a:r>
                        <a:rPr lang="en-US" altLang="zh-TW"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Current </a:t>
                      </a:r>
                      <a:r>
                        <a:rPr lang="en-US" altLang="zh-TW" sz="15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environmental</a:t>
                      </a:r>
                      <a:r>
                        <a:rPr lang="en-US" altLang="zh-TW" sz="150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TW"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problems</a:t>
                      </a:r>
                      <a:endParaRPr lang="en-US" altLang="zh-TW" sz="1500" dirty="0">
                        <a:latin typeface="Arial"/>
                        <a:cs typeface="Arial"/>
                      </a:endParaRPr>
                    </a:p>
                    <a:p>
                      <a:pPr marL="71120">
                        <a:lnSpc>
                          <a:spcPts val="1645"/>
                        </a:lnSpc>
                      </a:pPr>
                      <a:r>
                        <a:rPr lang="zh-TW" altLang="en-US" sz="1500" spc="-35" dirty="0">
                          <a:solidFill>
                            <a:srgbClr val="FFFFFF"/>
                          </a:solidFill>
                          <a:latin typeface="微軟正黑體"/>
                          <a:cs typeface="微軟正黑體"/>
                        </a:rPr>
                        <a:t>現今地球環境問題</a:t>
                      </a:r>
                      <a:endParaRPr lang="zh-TW" altLang="en-US" sz="1500" dirty="0">
                        <a:latin typeface="微軟正黑體"/>
                        <a:cs typeface="微軟正黑體"/>
                      </a:endParaRPr>
                    </a:p>
                  </a:txBody>
                  <a:tcPr marL="0" marR="0" marT="228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600" spc="-2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11/</a:t>
                      </a:r>
                      <a:r>
                        <a:rPr lang="en-US" altLang="zh-TW" sz="1600" spc="-2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6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2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Roles of Human Activities on Climate </a:t>
                      </a:r>
                      <a:r>
                        <a:rPr lang="en-US" altLang="zh-TW" sz="1500" i="0" dirty="0">
                          <a:solidFill>
                            <a:schemeClr val="bg1"/>
                          </a:solidFill>
                          <a:effectLst/>
                          <a:latin typeface="微軟正黑體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r>
                        <a:rPr lang="zh-TW" altLang="en-US" sz="1500" i="0" dirty="0">
                          <a:solidFill>
                            <a:schemeClr val="bg1"/>
                          </a:solidFill>
                          <a:effectLst/>
                          <a:latin typeface="微軟正黑體"/>
                          <a:ea typeface="+mn-ea"/>
                          <a:cs typeface="Arial" panose="020B0604020202020204" pitchFamily="34" charset="0"/>
                        </a:rPr>
                        <a:t>人類活動對氣候的影響</a:t>
                      </a:r>
                      <a:endParaRPr lang="zh-TW" altLang="en-US" sz="1500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228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7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49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9/</a:t>
                      </a:r>
                      <a:r>
                        <a:rPr lang="en-US"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19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49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30"/>
                        </a:lnSpc>
                        <a:spcBef>
                          <a:spcPts val="190"/>
                        </a:spcBef>
                      </a:pPr>
                      <a:r>
                        <a:rPr lang="en-US" sz="1500" spc="-20" dirty="0">
                          <a:solidFill>
                            <a:srgbClr val="FFFFFF"/>
                          </a:solidFill>
                          <a:latin typeface="Arial"/>
                          <a:ea typeface="+mn-ea"/>
                          <a:cs typeface="Arial"/>
                        </a:rPr>
                        <a:t>Soil pedogenesis</a:t>
                      </a:r>
                      <a:r>
                        <a:rPr lang="zh-TW" altLang="en-US" sz="1500" spc="-20" dirty="0">
                          <a:solidFill>
                            <a:srgbClr val="FFFFFF"/>
                          </a:solidFill>
                          <a:latin typeface="Arial"/>
                          <a:ea typeface="+mn-ea"/>
                          <a:cs typeface="Arial"/>
                        </a:rPr>
                        <a:t> </a:t>
                      </a:r>
                      <a:r>
                        <a:rPr lang="en-US" altLang="zh-TW" sz="1500" spc="-20" dirty="0">
                          <a:solidFill>
                            <a:srgbClr val="FFFFFF"/>
                          </a:solidFill>
                          <a:latin typeface="Arial"/>
                          <a:ea typeface="+mn-ea"/>
                          <a:cs typeface="Arial"/>
                        </a:rPr>
                        <a:t>and landuse</a:t>
                      </a:r>
                    </a:p>
                    <a:p>
                      <a:pPr marL="71120">
                        <a:lnSpc>
                          <a:spcPts val="1630"/>
                        </a:lnSpc>
                        <a:spcBef>
                          <a:spcPts val="190"/>
                        </a:spcBef>
                      </a:pPr>
                      <a:r>
                        <a:rPr lang="zh-TW" altLang="en-US" sz="1500" spc="-20" dirty="0">
                          <a:solidFill>
                            <a:srgbClr val="FFFFFF"/>
                          </a:solidFill>
                          <a:latin typeface="Arial"/>
                          <a:ea typeface="+mn-ea"/>
                          <a:cs typeface="Arial"/>
                        </a:rPr>
                        <a:t>成土作用與土地利用</a:t>
                      </a:r>
                      <a:endParaRPr sz="1500" spc="-20" dirty="0">
                        <a:solidFill>
                          <a:srgbClr val="FFFFFF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2558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49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11/1</a:t>
                      </a:r>
                      <a:r>
                        <a:rPr lang="en-US" altLang="zh-TW" sz="16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49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45"/>
                        </a:lnSpc>
                        <a:spcBef>
                          <a:spcPts val="185"/>
                        </a:spcBef>
                      </a:pPr>
                      <a:r>
                        <a:rPr lang="en-US" altLang="zh-TW"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Field</a:t>
                      </a:r>
                      <a:r>
                        <a:rPr lang="en-US" altLang="zh-TW" sz="1500" spc="-1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TW" sz="15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trip</a:t>
                      </a:r>
                      <a:endParaRPr lang="en-US" altLang="zh-TW" sz="1500" dirty="0">
                        <a:latin typeface="Arial"/>
                        <a:cs typeface="Arial"/>
                      </a:endParaRPr>
                    </a:p>
                    <a:p>
                      <a:pPr marL="71120">
                        <a:lnSpc>
                          <a:spcPts val="1645"/>
                        </a:lnSpc>
                      </a:pPr>
                      <a:r>
                        <a:rPr lang="zh-TW" altLang="en-US" sz="1500" spc="-40" dirty="0">
                          <a:solidFill>
                            <a:srgbClr val="FFFFFF"/>
                          </a:solidFill>
                          <a:latin typeface="微軟正黑體"/>
                          <a:cs typeface="微軟正黑體"/>
                        </a:rPr>
                        <a:t>野外實</a:t>
                      </a:r>
                      <a:r>
                        <a:rPr lang="zh-TW" altLang="en-US" sz="1500" spc="-5" dirty="0">
                          <a:solidFill>
                            <a:srgbClr val="FFFFFF"/>
                          </a:solidFill>
                          <a:latin typeface="微軟正黑體"/>
                          <a:cs typeface="微軟正黑體"/>
                        </a:rPr>
                        <a:t>察</a:t>
                      </a:r>
                      <a:r>
                        <a:rPr lang="zh-TW" altLang="en-US" sz="1500" spc="-40" dirty="0">
                          <a:solidFill>
                            <a:srgbClr val="FFFFFF"/>
                          </a:solidFill>
                          <a:latin typeface="微軟正黑體"/>
                          <a:cs typeface="微軟正黑體"/>
                        </a:rPr>
                        <a:t> </a:t>
                      </a:r>
                      <a:r>
                        <a:rPr lang="en-US" altLang="zh-TW" sz="15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lang="en-US" altLang="zh-TW" sz="1500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TW" altLang="en-US" sz="1500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中埔山</a:t>
                      </a:r>
                      <a:r>
                        <a:rPr lang="zh-TW" altLang="en-US" sz="1500" spc="-40" dirty="0">
                          <a:solidFill>
                            <a:srgbClr val="FFFFFF"/>
                          </a:solidFill>
                          <a:latin typeface="微軟正黑體"/>
                          <a:cs typeface="Arial"/>
                        </a:rPr>
                        <a:t> </a:t>
                      </a:r>
                      <a:r>
                        <a:rPr lang="en-US" altLang="zh-TW" sz="1500" spc="-40" dirty="0">
                          <a:solidFill>
                            <a:srgbClr val="FFFFFF"/>
                          </a:solidFill>
                          <a:latin typeface="微軟正黑體"/>
                          <a:cs typeface="Arial"/>
                        </a:rPr>
                        <a:t>(</a:t>
                      </a:r>
                      <a:r>
                        <a:rPr lang="zh-TW" altLang="en-US" sz="1500" spc="-40" dirty="0">
                          <a:solidFill>
                            <a:srgbClr val="FFFFFF"/>
                          </a:solidFill>
                          <a:latin typeface="微軟正黑體"/>
                          <a:cs typeface="Arial"/>
                        </a:rPr>
                        <a:t>富陽生態公園集合</a:t>
                      </a:r>
                      <a:r>
                        <a:rPr lang="en-US" altLang="zh-TW" sz="1500" spc="-40" dirty="0">
                          <a:solidFill>
                            <a:srgbClr val="FFFFFF"/>
                          </a:solidFill>
                          <a:latin typeface="微軟正黑體"/>
                          <a:cs typeface="Arial"/>
                        </a:rPr>
                        <a:t>)</a:t>
                      </a:r>
                      <a:endParaRPr lang="zh-TW" altLang="en-US" sz="1500" dirty="0">
                        <a:latin typeface="微軟正黑體"/>
                        <a:cs typeface="微軟正黑體"/>
                      </a:endParaRPr>
                    </a:p>
                  </a:txBody>
                  <a:tcPr marL="0" marR="0" marT="2558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9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4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9/2</a:t>
                      </a:r>
                      <a:r>
                        <a:rPr lang="en-US"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4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30"/>
                        </a:lnSpc>
                        <a:spcBef>
                          <a:spcPts val="190"/>
                        </a:spcBef>
                      </a:pPr>
                      <a:r>
                        <a:rPr lang="en-US" altLang="zh-TW"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Surface process and natural</a:t>
                      </a:r>
                      <a:r>
                        <a:rPr lang="en-US" altLang="zh-TW" sz="1500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TW" sz="15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hazards</a:t>
                      </a:r>
                      <a:endParaRPr lang="en-US" altLang="zh-TW" sz="1500" dirty="0">
                        <a:latin typeface="Arial"/>
                        <a:cs typeface="Arial"/>
                      </a:endParaRPr>
                    </a:p>
                    <a:p>
                      <a:pPr marL="71120">
                        <a:lnSpc>
                          <a:spcPts val="1630"/>
                        </a:lnSpc>
                      </a:pPr>
                      <a:r>
                        <a:rPr lang="zh-TW" altLang="en-US" sz="1500" spc="-35" dirty="0">
                          <a:solidFill>
                            <a:srgbClr val="FFFFFF"/>
                          </a:solidFill>
                          <a:latin typeface="微軟正黑體"/>
                          <a:cs typeface="微軟正黑體"/>
                        </a:rPr>
                        <a:t>地表作用與自然災害</a:t>
                      </a:r>
                      <a:endParaRPr lang="zh-TW" altLang="en-US" sz="1500" dirty="0">
                        <a:latin typeface="微軟正黑體"/>
                        <a:cs typeface="微軟正黑體"/>
                      </a:endParaRPr>
                    </a:p>
                  </a:txBody>
                  <a:tcPr marL="0" marR="0" marT="249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4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11/2</a:t>
                      </a:r>
                      <a:r>
                        <a:rPr lang="en-US" altLang="zh-TW" sz="1600" spc="-1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600" dirty="0">
                        <a:solidFill>
                          <a:srgbClr val="FFFF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4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30"/>
                        </a:lnSpc>
                        <a:spcBef>
                          <a:spcPts val="190"/>
                        </a:spcBef>
                      </a:pPr>
                      <a:r>
                        <a:rPr lang="en-US" altLang="zh-TW" sz="1500" spc="-2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n-US" altLang="zh-TW" sz="1500" spc="-10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TW" sz="1500" spc="-2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class</a:t>
                      </a:r>
                      <a:endParaRPr lang="en-US" altLang="zh-TW" sz="1500" dirty="0">
                        <a:solidFill>
                          <a:srgbClr val="FFFF00"/>
                        </a:solidFill>
                        <a:latin typeface="Arial"/>
                        <a:cs typeface="Arial"/>
                      </a:endParaRPr>
                    </a:p>
                    <a:p>
                      <a:pPr marL="71120">
                        <a:lnSpc>
                          <a:spcPts val="1630"/>
                        </a:lnSpc>
                      </a:pPr>
                      <a:r>
                        <a:rPr lang="zh-TW" altLang="en-US" sz="1500" spc="-35" dirty="0">
                          <a:solidFill>
                            <a:srgbClr val="FFFF00"/>
                          </a:solidFill>
                          <a:latin typeface="微軟正黑體"/>
                          <a:cs typeface="微軟正黑體"/>
                        </a:rPr>
                        <a:t>校慶停課</a:t>
                      </a:r>
                      <a:endParaRPr lang="zh-TW" altLang="en-US" sz="1500" dirty="0">
                        <a:solidFill>
                          <a:srgbClr val="FFFF00"/>
                        </a:solidFill>
                        <a:latin typeface="微軟正黑體"/>
                        <a:cs typeface="微軟正黑體"/>
                      </a:endParaRPr>
                    </a:p>
                  </a:txBody>
                  <a:tcPr marL="0" marR="0" marT="249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3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56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10/</a:t>
                      </a:r>
                      <a:r>
                        <a:rPr lang="en-US"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356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45"/>
                        </a:lnSpc>
                        <a:spcBef>
                          <a:spcPts val="185"/>
                        </a:spcBef>
                      </a:pPr>
                      <a:r>
                        <a:rPr lang="en-US" altLang="zh-TW"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Field</a:t>
                      </a:r>
                      <a:r>
                        <a:rPr lang="en-US" altLang="zh-TW" sz="1500" spc="-1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TW" sz="15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trip</a:t>
                      </a:r>
                      <a:endParaRPr lang="en-US" altLang="zh-TW" sz="1500" dirty="0">
                        <a:latin typeface="Arial"/>
                        <a:cs typeface="Arial"/>
                      </a:endParaRPr>
                    </a:p>
                    <a:p>
                      <a:pPr marL="71120">
                        <a:lnSpc>
                          <a:spcPts val="1645"/>
                        </a:lnSpc>
                      </a:pPr>
                      <a:r>
                        <a:rPr lang="zh-TW" altLang="en-US" sz="1500" spc="-40" dirty="0">
                          <a:solidFill>
                            <a:srgbClr val="FFFFFF"/>
                          </a:solidFill>
                          <a:latin typeface="微軟正黑體"/>
                          <a:cs typeface="微軟正黑體"/>
                        </a:rPr>
                        <a:t>野外實</a:t>
                      </a:r>
                      <a:r>
                        <a:rPr lang="zh-TW" altLang="en-US" sz="1500" spc="-5" dirty="0">
                          <a:solidFill>
                            <a:srgbClr val="FFFFFF"/>
                          </a:solidFill>
                          <a:latin typeface="微軟正黑體"/>
                          <a:cs typeface="微軟正黑體"/>
                        </a:rPr>
                        <a:t>察</a:t>
                      </a:r>
                      <a:r>
                        <a:rPr lang="zh-TW" altLang="en-US" sz="1500" spc="-40" dirty="0">
                          <a:solidFill>
                            <a:srgbClr val="FFFFFF"/>
                          </a:solidFill>
                          <a:latin typeface="微軟正黑體"/>
                          <a:cs typeface="微軟正黑體"/>
                        </a:rPr>
                        <a:t> </a:t>
                      </a:r>
                      <a:r>
                        <a:rPr lang="en-US" altLang="zh-TW" sz="15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–</a:t>
                      </a:r>
                      <a:r>
                        <a:rPr lang="zh-TW" altLang="en-US" sz="1500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zh-TW" altLang="en-US" sz="1500" spc="-40" dirty="0">
                          <a:solidFill>
                            <a:srgbClr val="FFFFFF"/>
                          </a:solidFill>
                          <a:latin typeface="微軟正黑體"/>
                          <a:cs typeface="Arial"/>
                        </a:rPr>
                        <a:t>碧潭 </a:t>
                      </a:r>
                      <a:r>
                        <a:rPr lang="en-US" altLang="zh-TW" sz="1500" spc="-40" dirty="0">
                          <a:solidFill>
                            <a:srgbClr val="FFFFFF"/>
                          </a:solidFill>
                          <a:latin typeface="微軟正黑體"/>
                          <a:cs typeface="Arial"/>
                        </a:rPr>
                        <a:t>(</a:t>
                      </a:r>
                      <a:r>
                        <a:rPr lang="zh-TW" altLang="en-US" sz="1500" spc="-40" dirty="0">
                          <a:solidFill>
                            <a:srgbClr val="FFFFFF"/>
                          </a:solidFill>
                          <a:latin typeface="微軟正黑體"/>
                          <a:cs typeface="Arial"/>
                        </a:rPr>
                        <a:t>新店捷運站集合</a:t>
                      </a:r>
                      <a:r>
                        <a:rPr lang="en-US" altLang="zh-TW" sz="1500" spc="-40" dirty="0">
                          <a:solidFill>
                            <a:srgbClr val="FFFFFF"/>
                          </a:solidFill>
                          <a:latin typeface="微軟正黑體"/>
                          <a:cs typeface="Arial"/>
                        </a:rPr>
                        <a:t>)</a:t>
                      </a:r>
                      <a:endParaRPr lang="zh-TW" altLang="en-US" sz="1500" dirty="0">
                        <a:latin typeface="微軟正黑體"/>
                        <a:cs typeface="微軟正黑體"/>
                      </a:endParaRPr>
                    </a:p>
                  </a:txBody>
                  <a:tcPr marL="0" marR="0" marT="24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600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56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6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11/</a:t>
                      </a:r>
                      <a:r>
                        <a:rPr lang="en-US" altLang="zh-TW" sz="16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28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356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45"/>
                        </a:lnSpc>
                        <a:spcBef>
                          <a:spcPts val="180"/>
                        </a:spcBef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微軟正黑體"/>
                          <a:cs typeface="微軟正黑體"/>
                        </a:rPr>
                        <a:t>Global biogeography</a:t>
                      </a:r>
                    </a:p>
                    <a:p>
                      <a:pPr marL="71120">
                        <a:lnSpc>
                          <a:spcPts val="1645"/>
                        </a:lnSpc>
                        <a:spcBef>
                          <a:spcPts val="180"/>
                        </a:spcBef>
                      </a:pPr>
                      <a:r>
                        <a:rPr lang="zh-TW" altLang="en-US" sz="1500" dirty="0">
                          <a:solidFill>
                            <a:schemeClr val="bg1"/>
                          </a:solidFill>
                          <a:latin typeface="微軟正黑體"/>
                          <a:cs typeface="微軟正黑體"/>
                        </a:rPr>
                        <a:t>全球生物地理</a:t>
                      </a:r>
                      <a:endParaRPr sz="1500" dirty="0">
                        <a:solidFill>
                          <a:schemeClr val="bg1"/>
                        </a:solidFill>
                        <a:latin typeface="微軟正黑體"/>
                        <a:cs typeface="微軟正黑體"/>
                      </a:endParaRPr>
                    </a:p>
                  </a:txBody>
                  <a:tcPr marL="0" marR="0" marT="24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4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626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spc="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10/10</a:t>
                      </a:r>
                      <a:endParaRPr lang="zh-TW" altLang="en-US" sz="1600" dirty="0">
                        <a:solidFill>
                          <a:srgbClr val="FFFF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26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30"/>
                        </a:lnSpc>
                        <a:spcBef>
                          <a:spcPts val="190"/>
                        </a:spcBef>
                      </a:pPr>
                      <a:r>
                        <a:rPr lang="en-US" altLang="zh-TW" sz="1500" spc="-2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n-US" altLang="zh-TW" sz="1500" spc="-10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TW" sz="1500" spc="-2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class</a:t>
                      </a:r>
                      <a:endParaRPr lang="en-US" altLang="zh-TW" sz="1500" dirty="0">
                        <a:solidFill>
                          <a:srgbClr val="FFFF00"/>
                        </a:solidFill>
                        <a:latin typeface="Arial"/>
                        <a:cs typeface="Arial"/>
                      </a:endParaRPr>
                    </a:p>
                    <a:p>
                      <a:pPr marL="71120">
                        <a:lnSpc>
                          <a:spcPts val="1630"/>
                        </a:lnSpc>
                      </a:pPr>
                      <a:r>
                        <a:rPr lang="zh-TW" altLang="en-US" sz="1500" spc="-35" dirty="0">
                          <a:solidFill>
                            <a:srgbClr val="FFFF00"/>
                          </a:solidFill>
                          <a:latin typeface="微軟正黑體"/>
                          <a:cs typeface="微軟正黑體"/>
                        </a:rPr>
                        <a:t>國慶停課</a:t>
                      </a:r>
                      <a:endParaRPr lang="zh-TW" altLang="en-US" sz="1500" dirty="0">
                        <a:solidFill>
                          <a:srgbClr val="FFFF00"/>
                        </a:solidFill>
                        <a:latin typeface="微軟正黑體"/>
                        <a:cs typeface="微軟正黑體"/>
                      </a:endParaRPr>
                    </a:p>
                  </a:txBody>
                  <a:tcPr marL="0" marR="0" marT="269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626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12/</a:t>
                      </a:r>
                      <a:r>
                        <a:rPr lang="en-US" altLang="zh-TW"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626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30"/>
                        </a:lnSpc>
                        <a:spcBef>
                          <a:spcPts val="200"/>
                        </a:spcBef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微軟正黑體"/>
                          <a:cs typeface="微軟正黑體"/>
                        </a:rPr>
                        <a:t>Climate change and global forests</a:t>
                      </a:r>
                    </a:p>
                    <a:p>
                      <a:pPr marL="71120">
                        <a:lnSpc>
                          <a:spcPts val="1630"/>
                        </a:lnSpc>
                        <a:spcBef>
                          <a:spcPts val="200"/>
                        </a:spcBef>
                      </a:pPr>
                      <a:r>
                        <a:rPr lang="zh-TW" altLang="en-US" sz="1500" dirty="0">
                          <a:solidFill>
                            <a:schemeClr val="bg1"/>
                          </a:solidFill>
                          <a:latin typeface="微軟正黑體"/>
                          <a:cs typeface="微軟正黑體"/>
                        </a:rPr>
                        <a:t>氣候變遷與全球森林</a:t>
                      </a:r>
                      <a:endParaRPr sz="1500" dirty="0">
                        <a:solidFill>
                          <a:schemeClr val="bg1"/>
                        </a:solidFill>
                        <a:latin typeface="微軟正黑體"/>
                        <a:cs typeface="微軟正黑體"/>
                      </a:endParaRPr>
                    </a:p>
                  </a:txBody>
                  <a:tcPr marL="0" marR="0" marT="269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84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558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10/17</a:t>
                      </a:r>
                      <a:endParaRPr lang="zh-TW" altLang="en-US" sz="1600" dirty="0">
                        <a:latin typeface="Arial"/>
                        <a:cs typeface="Arial"/>
                      </a:endParaRPr>
                    </a:p>
                  </a:txBody>
                  <a:tcPr marL="0" marR="0" marT="2558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30"/>
                        </a:lnSpc>
                        <a:spcBef>
                          <a:spcPts val="190"/>
                        </a:spcBef>
                      </a:pPr>
                      <a:r>
                        <a:rPr lang="en-US" altLang="zh-TW"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Climatology/Surface Energy Budget</a:t>
                      </a:r>
                      <a:endParaRPr lang="en-US" altLang="zh-TW" sz="1500" dirty="0">
                        <a:latin typeface="Arial"/>
                        <a:cs typeface="Arial"/>
                      </a:endParaRPr>
                    </a:p>
                    <a:p>
                      <a:pPr marL="71120">
                        <a:lnSpc>
                          <a:spcPts val="1630"/>
                        </a:lnSpc>
                      </a:pPr>
                      <a:r>
                        <a:rPr lang="zh-TW" altLang="en-US" sz="1500" spc="-35" dirty="0">
                          <a:solidFill>
                            <a:srgbClr val="FFFFFF"/>
                          </a:solidFill>
                          <a:latin typeface="微軟正黑體"/>
                          <a:cs typeface="微軟正黑體"/>
                        </a:rPr>
                        <a:t>氣候學簡介</a:t>
                      </a:r>
                      <a:r>
                        <a:rPr lang="en-US" altLang="zh-TW" sz="1500" spc="-35" dirty="0">
                          <a:solidFill>
                            <a:srgbClr val="FFFFFF"/>
                          </a:solidFill>
                          <a:latin typeface="微軟正黑體"/>
                          <a:cs typeface="微軟正黑體"/>
                        </a:rPr>
                        <a:t>/</a:t>
                      </a:r>
                      <a:r>
                        <a:rPr lang="zh-TW" altLang="en-US" sz="1500" spc="-35" dirty="0">
                          <a:solidFill>
                            <a:srgbClr val="FFFFFF"/>
                          </a:solidFill>
                          <a:latin typeface="微軟正黑體"/>
                          <a:cs typeface="微軟正黑體"/>
                        </a:rPr>
                        <a:t>地表能量收資</a:t>
                      </a:r>
                      <a:endParaRPr lang="zh-TW" altLang="en-US" sz="1500" dirty="0">
                        <a:latin typeface="微軟正黑體"/>
                        <a:cs typeface="微軟正黑體"/>
                      </a:endParaRPr>
                    </a:p>
                  </a:txBody>
                  <a:tcPr marL="0" marR="0" marT="2626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600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558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12/1</a:t>
                      </a:r>
                      <a:r>
                        <a:rPr lang="en-US" altLang="zh-TW"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558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352425">
                        <a:lnSpc>
                          <a:spcPts val="1610"/>
                        </a:lnSpc>
                        <a:spcBef>
                          <a:spcPts val="305"/>
                        </a:spcBef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微軟正黑體"/>
                          <a:cs typeface="微軟正黑體"/>
                        </a:rPr>
                        <a:t>Montane cloud forest</a:t>
                      </a:r>
                    </a:p>
                    <a:p>
                      <a:pPr marL="71120" marR="352425">
                        <a:lnSpc>
                          <a:spcPts val="1610"/>
                        </a:lnSpc>
                        <a:spcBef>
                          <a:spcPts val="305"/>
                        </a:spcBef>
                      </a:pPr>
                      <a:r>
                        <a:rPr lang="zh-TW" altLang="en-US" sz="1500" dirty="0">
                          <a:solidFill>
                            <a:schemeClr val="bg1"/>
                          </a:solidFill>
                          <a:latin typeface="微軟正黑體"/>
                          <a:cs typeface="微軟正黑體"/>
                        </a:rPr>
                        <a:t>山地雲霧森林</a:t>
                      </a:r>
                      <a:endParaRPr sz="1500" dirty="0">
                        <a:solidFill>
                          <a:schemeClr val="bg1"/>
                        </a:solidFill>
                        <a:latin typeface="微軟正黑體"/>
                        <a:cs typeface="微軟正黑體"/>
                      </a:endParaRPr>
                    </a:p>
                  </a:txBody>
                  <a:tcPr marL="0" marR="0" marT="41076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46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49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spc="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10/24</a:t>
                      </a:r>
                      <a:endParaRPr lang="zh-TW" altLang="en-US" sz="1600" dirty="0">
                        <a:solidFill>
                          <a:srgbClr val="FFFF00"/>
                        </a:solidFill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49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30"/>
                        </a:lnSpc>
                        <a:spcBef>
                          <a:spcPts val="190"/>
                        </a:spcBef>
                      </a:pPr>
                      <a:r>
                        <a:rPr lang="en-US" altLang="zh-TW" sz="1500" spc="-2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lang="en-US" altLang="zh-TW" sz="1500" spc="-105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TW" sz="1500" spc="-20" dirty="0">
                          <a:solidFill>
                            <a:srgbClr val="FFFF00"/>
                          </a:solidFill>
                          <a:latin typeface="Arial"/>
                          <a:cs typeface="Arial"/>
                        </a:rPr>
                        <a:t>class</a:t>
                      </a:r>
                      <a:endParaRPr lang="en-US" altLang="zh-TW" sz="1500" dirty="0">
                        <a:solidFill>
                          <a:srgbClr val="FFFF00"/>
                        </a:solidFill>
                        <a:latin typeface="Arial"/>
                        <a:cs typeface="Arial"/>
                      </a:endParaRPr>
                    </a:p>
                    <a:p>
                      <a:pPr marL="71120">
                        <a:lnSpc>
                          <a:spcPts val="1630"/>
                        </a:lnSpc>
                      </a:pPr>
                      <a:r>
                        <a:rPr lang="zh-TW" altLang="en-US" sz="1500" spc="-35" dirty="0">
                          <a:solidFill>
                            <a:srgbClr val="FFFF00"/>
                          </a:solidFill>
                          <a:latin typeface="微軟正黑體"/>
                          <a:cs typeface="微軟正黑體"/>
                        </a:rPr>
                        <a:t>光復節停課</a:t>
                      </a:r>
                      <a:endParaRPr lang="zh-TW" altLang="en-US" sz="1500" dirty="0">
                        <a:solidFill>
                          <a:srgbClr val="FFFF00"/>
                        </a:solidFill>
                        <a:latin typeface="微軟正黑體"/>
                        <a:cs typeface="微軟正黑體"/>
                      </a:endParaRPr>
                    </a:p>
                  </a:txBody>
                  <a:tcPr marL="0" marR="0" marT="2558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49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12/</a:t>
                      </a:r>
                      <a:r>
                        <a:rPr lang="en-US" altLang="zh-TW" sz="1600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19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249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45"/>
                        </a:lnSpc>
                        <a:spcBef>
                          <a:spcPts val="190"/>
                        </a:spcBef>
                      </a:pPr>
                      <a:r>
                        <a:rPr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Final</a:t>
                      </a:r>
                      <a:r>
                        <a:rPr sz="1500" spc="-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exam</a:t>
                      </a:r>
                      <a:endParaRPr sz="1500" dirty="0">
                        <a:latin typeface="Arial"/>
                        <a:cs typeface="Arial"/>
                      </a:endParaRPr>
                    </a:p>
                    <a:p>
                      <a:pPr marL="71120">
                        <a:lnSpc>
                          <a:spcPts val="1645"/>
                        </a:lnSpc>
                      </a:pPr>
                      <a:r>
                        <a:rPr sz="1500" spc="-35" dirty="0">
                          <a:solidFill>
                            <a:srgbClr val="FFFFFF"/>
                          </a:solidFill>
                          <a:latin typeface="微軟正黑體"/>
                          <a:cs typeface="微軟正黑體"/>
                        </a:rPr>
                        <a:t>期末考</a:t>
                      </a:r>
                      <a:endParaRPr sz="1500" dirty="0">
                        <a:latin typeface="微軟正黑體"/>
                        <a:cs typeface="微軟正黑體"/>
                      </a:endParaRPr>
                    </a:p>
                  </a:txBody>
                  <a:tcPr marL="0" marR="0" marT="2558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F1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209EA6-1E55-4081-893A-EE5A3ED5A6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9932" y="3019425"/>
            <a:ext cx="3904673" cy="50966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201" b="1" spc="-13" dirty="0"/>
              <a:t>What </a:t>
            </a:r>
            <a:r>
              <a:rPr sz="3201" b="1" spc="-7" dirty="0"/>
              <a:t>is</a:t>
            </a:r>
            <a:r>
              <a:rPr sz="3201" b="1" spc="-100" dirty="0"/>
              <a:t> </a:t>
            </a:r>
            <a:r>
              <a:rPr sz="3201" b="1" spc="-13" dirty="0"/>
              <a:t>geography?</a:t>
            </a:r>
            <a:endParaRPr sz="3201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B165829-E787-4507-B647-E0DB064530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54699" y="507571"/>
            <a:ext cx="9118241" cy="6539396"/>
          </a:xfrm>
          <a:custGeom>
            <a:avLst/>
            <a:gdLst/>
            <a:ahLst/>
            <a:cxnLst/>
            <a:rect l="l" t="t" r="r" b="b"/>
            <a:pathLst>
              <a:path w="6838950" h="4904740">
                <a:moveTo>
                  <a:pt x="0" y="0"/>
                </a:moveTo>
                <a:lnTo>
                  <a:pt x="6838924" y="0"/>
                </a:lnTo>
                <a:lnTo>
                  <a:pt x="6838924" y="4904625"/>
                </a:lnTo>
                <a:lnTo>
                  <a:pt x="0" y="4904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2154704" y="2426539"/>
            <a:ext cx="7442956" cy="2225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5475821" y="507571"/>
            <a:ext cx="5797084" cy="19189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2178185" y="507578"/>
            <a:ext cx="3293606" cy="9775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41790" y="1521865"/>
            <a:ext cx="103543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2667" b="1" spc="13" dirty="0">
                <a:solidFill>
                  <a:srgbClr val="000000"/>
                </a:solidFill>
              </a:rPr>
              <a:t>(2012)</a:t>
            </a:r>
            <a:endParaRPr sz="2667"/>
          </a:p>
        </p:txBody>
      </p:sp>
      <p:sp>
        <p:nvSpPr>
          <p:cNvPr id="7" name="object 7"/>
          <p:cNvSpPr txBox="1"/>
          <p:nvPr/>
        </p:nvSpPr>
        <p:spPr>
          <a:xfrm>
            <a:off x="2241790" y="3647253"/>
            <a:ext cx="103543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2667" b="1" spc="13" dirty="0">
                <a:latin typeface="Arial"/>
                <a:cs typeface="Arial"/>
              </a:rPr>
              <a:t>(2013)</a:t>
            </a:r>
            <a:endParaRPr sz="2667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78190" y="4650349"/>
            <a:ext cx="7419469" cy="23964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2265257" y="6374091"/>
            <a:ext cx="103543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2667" b="1" spc="13" dirty="0">
                <a:latin typeface="Arial"/>
                <a:cs typeface="Arial"/>
              </a:rPr>
              <a:t>(2014)</a:t>
            </a:r>
            <a:endParaRPr sz="2667">
              <a:latin typeface="Arial"/>
              <a:cs typeface="Arial"/>
            </a:endParaRP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5674A73-763A-4268-8E00-4F90159E18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7" y="297887"/>
            <a:ext cx="4261952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Spatial</a:t>
            </a:r>
            <a:r>
              <a:rPr sz="3600" b="1" spc="100" dirty="0"/>
              <a:t> </a:t>
            </a:r>
            <a:r>
              <a:rPr sz="3600" b="1" dirty="0"/>
              <a:t>Distribution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69" y="1316091"/>
            <a:ext cx="5195790" cy="887548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John</a:t>
            </a:r>
            <a:r>
              <a:rPr sz="2667" spc="-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Snow</a:t>
            </a:r>
            <a:endParaRPr sz="2667">
              <a:latin typeface="Arial"/>
              <a:cs typeface="Arial"/>
            </a:endParaRPr>
          </a:p>
          <a:p>
            <a:pPr marL="796780" lvl="1" indent="-259950">
              <a:spcBef>
                <a:spcPts val="393"/>
              </a:spcBef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1854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cholera break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in London,</a:t>
            </a:r>
            <a:r>
              <a:rPr sz="2267" spc="-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UK</a:t>
            </a:r>
            <a:endParaRPr sz="2267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3290" y="2332901"/>
            <a:ext cx="7228854" cy="5083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9396502" y="-104995"/>
            <a:ext cx="2879027" cy="46750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8747720" y="4549270"/>
            <a:ext cx="4176577" cy="31309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2234ABD-5313-46C8-9292-2FBD7C2980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3" y="297887"/>
            <a:ext cx="6494524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Spatial </a:t>
            </a:r>
            <a:r>
              <a:rPr sz="3600" b="1" spc="-7" dirty="0"/>
              <a:t>(&amp; </a:t>
            </a:r>
            <a:r>
              <a:rPr sz="3600" b="1" spc="-20" dirty="0"/>
              <a:t>Temporal)</a:t>
            </a:r>
            <a:r>
              <a:rPr sz="3600" b="1" spc="40" dirty="0"/>
              <a:t> </a:t>
            </a:r>
            <a:r>
              <a:rPr sz="3600" b="1" dirty="0"/>
              <a:t>Analysis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325270" y="1152707"/>
            <a:ext cx="10777066" cy="6223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5D0771-034D-48E1-95C3-1FDDC91BDC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4" y="297887"/>
            <a:ext cx="2467936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Geography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68" y="1375564"/>
            <a:ext cx="6962713" cy="364200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76884" indent="-259950">
              <a:spcBef>
                <a:spcPts val="133"/>
              </a:spcBef>
              <a:buChar char="•"/>
              <a:tabLst>
                <a:tab pos="277728" algn="l"/>
              </a:tabLst>
            </a:pP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Human geography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vs.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physical</a:t>
            </a:r>
            <a:r>
              <a:rPr sz="2667" spc="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geography?</a:t>
            </a:r>
            <a:endParaRPr sz="2667">
              <a:latin typeface="Arial"/>
              <a:cs typeface="Arial"/>
            </a:endParaRPr>
          </a:p>
          <a:p>
            <a:pPr>
              <a:spcBef>
                <a:spcPts val="13"/>
              </a:spcBef>
              <a:buClr>
                <a:srgbClr val="FFFFFF"/>
              </a:buClr>
              <a:buFont typeface="Arial"/>
              <a:buChar char="•"/>
            </a:pPr>
            <a:endParaRPr sz="4268">
              <a:latin typeface="Times New Roman"/>
              <a:cs typeface="Times New Roman"/>
            </a:endParaRPr>
          </a:p>
          <a:p>
            <a:pPr marL="276884" indent="-259950">
              <a:spcBef>
                <a:spcPts val="7"/>
              </a:spcBef>
              <a:buChar char="•"/>
              <a:tabLst>
                <a:tab pos="277728" algn="l"/>
              </a:tabLst>
            </a:pP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Qualitative vs.</a:t>
            </a:r>
            <a:r>
              <a:rPr sz="2667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quantitative?</a:t>
            </a:r>
            <a:endParaRPr sz="2667">
              <a:latin typeface="Arial"/>
              <a:cs typeface="Arial"/>
            </a:endParaRPr>
          </a:p>
          <a:p>
            <a:pPr>
              <a:spcBef>
                <a:spcPts val="53"/>
              </a:spcBef>
              <a:buClr>
                <a:srgbClr val="FFFFFF"/>
              </a:buClr>
              <a:buFont typeface="Arial"/>
              <a:buChar char="•"/>
            </a:pPr>
            <a:endParaRPr sz="4268">
              <a:latin typeface="Times New Roman"/>
              <a:cs typeface="Times New Roman"/>
            </a:endParaRPr>
          </a:p>
          <a:p>
            <a:pPr marL="276884" indent="-259950"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Local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vs.</a:t>
            </a:r>
            <a:r>
              <a:rPr sz="2667" spc="-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global?</a:t>
            </a:r>
            <a:endParaRPr sz="2667">
              <a:latin typeface="Arial"/>
              <a:cs typeface="Arial"/>
            </a:endParaRPr>
          </a:p>
          <a:p>
            <a:pPr>
              <a:spcBef>
                <a:spcPts val="20"/>
              </a:spcBef>
              <a:buClr>
                <a:srgbClr val="FFFFFF"/>
              </a:buClr>
              <a:buFont typeface="Arial"/>
              <a:buChar char="•"/>
            </a:pPr>
            <a:endParaRPr sz="4268">
              <a:latin typeface="Times New Roman"/>
              <a:cs typeface="Times New Roman"/>
            </a:endParaRPr>
          </a:p>
          <a:p>
            <a:pPr marL="276884" indent="-259950"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Space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vs.</a:t>
            </a:r>
            <a:r>
              <a:rPr sz="2667" spc="-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place?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05D670-D748-4DB6-A7B7-D3D8D5B67F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3" y="297887"/>
            <a:ext cx="4315290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Laws of Geography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68" y="1316089"/>
            <a:ext cx="11688620" cy="4093618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Char char="•"/>
              <a:tabLst>
                <a:tab pos="277728" algn="l"/>
              </a:tabLst>
            </a:pPr>
            <a:r>
              <a:rPr sz="2667" spc="-13" dirty="0">
                <a:solidFill>
                  <a:srgbClr val="FFFFFF"/>
                </a:solidFill>
                <a:latin typeface="Arial"/>
                <a:cs typeface="Arial"/>
              </a:rPr>
              <a:t>Tobler’s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first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law of</a:t>
            </a:r>
            <a:r>
              <a:rPr sz="2667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geography:</a:t>
            </a:r>
            <a:endParaRPr sz="2667">
              <a:latin typeface="Arial"/>
              <a:cs typeface="Arial"/>
            </a:endParaRPr>
          </a:p>
          <a:p>
            <a:pPr marL="796780" lvl="1" indent="-259950">
              <a:spcBef>
                <a:spcPts val="393"/>
              </a:spcBef>
              <a:buChar char="•"/>
              <a:tabLst>
                <a:tab pos="797625" algn="l"/>
              </a:tabLst>
            </a:pP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Everything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related to everything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else, but near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things are more related than</a:t>
            </a:r>
            <a:r>
              <a:rPr sz="2267" spc="2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distant.</a:t>
            </a:r>
            <a:endParaRPr sz="2267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endParaRPr sz="2533">
              <a:latin typeface="Times New Roman"/>
              <a:cs typeface="Times New Roman"/>
            </a:endParaRPr>
          </a:p>
          <a:p>
            <a:pPr marL="276884" indent="-259950">
              <a:spcBef>
                <a:spcPts val="1960"/>
              </a:spcBef>
              <a:buChar char="•"/>
              <a:tabLst>
                <a:tab pos="277728" algn="l"/>
              </a:tabLst>
            </a:pPr>
            <a:r>
              <a:rPr sz="2667" spc="-13" dirty="0">
                <a:solidFill>
                  <a:srgbClr val="FFFFFF"/>
                </a:solidFill>
                <a:latin typeface="Arial"/>
                <a:cs typeface="Arial"/>
              </a:rPr>
              <a:t>Tobler’s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second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law of</a:t>
            </a:r>
            <a:r>
              <a:rPr sz="2667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geography:</a:t>
            </a:r>
            <a:endParaRPr sz="2667">
              <a:latin typeface="Arial"/>
              <a:cs typeface="Arial"/>
            </a:endParaRPr>
          </a:p>
          <a:p>
            <a:pPr marL="796780" lvl="1" indent="-259950">
              <a:spcBef>
                <a:spcPts val="267"/>
              </a:spcBef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The phenomenon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external to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geographic area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interest </a:t>
            </a:r>
            <a:r>
              <a:rPr sz="2267" spc="-13" dirty="0">
                <a:solidFill>
                  <a:srgbClr val="FFFFFF"/>
                </a:solidFill>
                <a:latin typeface="Arial"/>
                <a:cs typeface="Arial"/>
              </a:rPr>
              <a:t>affects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what goes</a:t>
            </a:r>
            <a:r>
              <a:rPr sz="2267" spc="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inside.</a:t>
            </a:r>
            <a:endParaRPr sz="2267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endParaRPr sz="2533">
              <a:latin typeface="Times New Roman"/>
              <a:cs typeface="Times New Roman"/>
            </a:endParaRPr>
          </a:p>
          <a:p>
            <a:pPr marL="276884" indent="-259950">
              <a:spcBef>
                <a:spcPts val="1960"/>
              </a:spcBef>
              <a:buChar char="•"/>
              <a:tabLst>
                <a:tab pos="277728" algn="l"/>
              </a:tabLst>
            </a:pP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Arbia law of</a:t>
            </a: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 geography:</a:t>
            </a:r>
            <a:endParaRPr sz="2667">
              <a:latin typeface="Arial"/>
              <a:cs typeface="Arial"/>
            </a:endParaRPr>
          </a:p>
          <a:p>
            <a:pPr marL="796780" marR="822182" lvl="1" indent="-259950">
              <a:lnSpc>
                <a:spcPts val="2400"/>
              </a:lnSpc>
              <a:spcBef>
                <a:spcPts val="740"/>
              </a:spcBef>
              <a:buChar char="•"/>
              <a:tabLst>
                <a:tab pos="797625" algn="l"/>
              </a:tabLst>
            </a:pP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Everything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related to everything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else, but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things observed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at a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coarse spatial  solution are more related than things observed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at a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finer</a:t>
            </a:r>
            <a:r>
              <a:rPr sz="2267" spc="1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resolution.</a:t>
            </a:r>
            <a:endParaRPr sz="2267">
              <a:latin typeface="Arial"/>
              <a:cs typeface="Arial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23FE87-5817-4A09-BA17-8FD4837B12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5314" y="2205896"/>
            <a:ext cx="5637731" cy="50966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201" b="1" spc="-13" dirty="0"/>
              <a:t>What </a:t>
            </a:r>
            <a:r>
              <a:rPr sz="3201" b="1" spc="-7" dirty="0"/>
              <a:t>is </a:t>
            </a:r>
            <a:r>
              <a:rPr sz="3201" b="1" spc="-13" dirty="0"/>
              <a:t>physical</a:t>
            </a:r>
            <a:r>
              <a:rPr sz="3201" b="1" spc="-73" dirty="0"/>
              <a:t> </a:t>
            </a:r>
            <a:r>
              <a:rPr sz="3201" b="1" spc="-13" dirty="0"/>
              <a:t>geography?</a:t>
            </a:r>
            <a:endParaRPr sz="3201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4569D34-B1E1-4BFD-878B-E0E0D01319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7" y="297887"/>
            <a:ext cx="7653565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Important environmental</a:t>
            </a:r>
            <a:r>
              <a:rPr sz="3600" b="1" spc="173" dirty="0"/>
              <a:t> </a:t>
            </a:r>
            <a:r>
              <a:rPr sz="3600" b="1" dirty="0"/>
              <a:t>problems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53656" y="1303158"/>
            <a:ext cx="4309600" cy="57248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4718389" y="1303158"/>
            <a:ext cx="4333136" cy="57248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9306659" y="1303158"/>
            <a:ext cx="3847727" cy="57248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025659-3EFE-4015-9909-D6D8D6CC7D7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7" y="297887"/>
            <a:ext cx="4776705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Planetary</a:t>
            </a:r>
            <a:r>
              <a:rPr sz="3600" b="1" spc="20" dirty="0"/>
              <a:t> </a:t>
            </a:r>
            <a:r>
              <a:rPr sz="3600" b="1" dirty="0"/>
              <a:t>Boundaries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-220124" y="1089216"/>
            <a:ext cx="13867854" cy="5953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933965" y="7067765"/>
            <a:ext cx="2397666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1333" dirty="0">
                <a:solidFill>
                  <a:srgbClr val="FFFFFF"/>
                </a:solidFill>
                <a:latin typeface="Arial"/>
                <a:cs typeface="Arial"/>
              </a:rPr>
              <a:t>Rockström </a:t>
            </a:r>
            <a:r>
              <a:rPr sz="1333" spc="-7" dirty="0">
                <a:solidFill>
                  <a:srgbClr val="FFFFFF"/>
                </a:solidFill>
                <a:latin typeface="Arial"/>
                <a:cs typeface="Arial"/>
              </a:rPr>
              <a:t>et al. (2009)</a:t>
            </a:r>
            <a:r>
              <a:rPr sz="1333" spc="2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i="1" dirty="0">
                <a:solidFill>
                  <a:srgbClr val="FFFFFF"/>
                </a:solidFill>
                <a:latin typeface="Arial"/>
                <a:cs typeface="Arial"/>
              </a:rPr>
              <a:t>Nature</a:t>
            </a:r>
            <a:endParaRPr sz="133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99954" y="7067765"/>
            <a:ext cx="221309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1333" spc="-7" dirty="0">
                <a:solidFill>
                  <a:srgbClr val="FFFFFF"/>
                </a:solidFill>
                <a:latin typeface="Arial"/>
                <a:cs typeface="Arial"/>
              </a:rPr>
              <a:t>Steffen et al. (2015)</a:t>
            </a:r>
            <a:r>
              <a:rPr sz="1333" spc="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i="1" dirty="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endParaRPr sz="1333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88849" y="7067765"/>
            <a:ext cx="3336582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1333" dirty="0">
                <a:solidFill>
                  <a:srgbClr val="FFFFFF"/>
                </a:solidFill>
                <a:latin typeface="Arial"/>
                <a:cs typeface="Arial"/>
              </a:rPr>
              <a:t>Richardson </a:t>
            </a:r>
            <a:r>
              <a:rPr sz="1333" spc="-7" dirty="0">
                <a:solidFill>
                  <a:srgbClr val="FFFFFF"/>
                </a:solidFill>
                <a:latin typeface="Arial"/>
                <a:cs typeface="Arial"/>
              </a:rPr>
              <a:t>et al. (2023) </a:t>
            </a:r>
            <a:r>
              <a:rPr sz="1333" i="1" dirty="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r>
              <a:rPr sz="1333" i="1" spc="2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i="1" dirty="0">
                <a:solidFill>
                  <a:srgbClr val="FFFFFF"/>
                </a:solidFill>
                <a:latin typeface="Arial"/>
                <a:cs typeface="Arial"/>
              </a:rPr>
              <a:t>Advances</a:t>
            </a:r>
            <a:endParaRPr sz="133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38111" y="7450459"/>
            <a:ext cx="4624311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https://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www.stockholmresilience.org/research/planetary-boundaries.html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ACF9048-DD3E-475D-86CB-CEA51D6E58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4" y="297887"/>
            <a:ext cx="3394153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Earth</a:t>
            </a:r>
            <a:r>
              <a:rPr sz="3600" b="1" spc="-7" dirty="0"/>
              <a:t> </a:t>
            </a:r>
            <a:r>
              <a:rPr sz="3600" b="1" dirty="0"/>
              <a:t>Elements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4142378" y="1524987"/>
            <a:ext cx="5148089" cy="5151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656456" y="1726366"/>
            <a:ext cx="1579818" cy="3442309"/>
          </a:xfrm>
          <a:prstGeom prst="rect">
            <a:avLst/>
          </a:prstGeom>
        </p:spPr>
        <p:txBody>
          <a:bodyPr vert="horz" wrap="square" lIns="0" tIns="23706" rIns="0" bIns="0" rtlCol="0">
            <a:spAutoFit/>
          </a:bodyPr>
          <a:lstStyle/>
          <a:p>
            <a:pPr marL="16936" marR="6773">
              <a:lnSpc>
                <a:spcPct val="98700"/>
              </a:lnSpc>
              <a:spcBef>
                <a:spcPts val="187"/>
              </a:spcBef>
            </a:pPr>
            <a:r>
              <a:rPr sz="3201" b="1" spc="-13" dirty="0">
                <a:solidFill>
                  <a:srgbClr val="FFFFFF"/>
                </a:solidFill>
                <a:latin typeface="Arial"/>
                <a:cs typeface="Arial"/>
              </a:rPr>
              <a:t>Air  Cloud  Mineral  Rock  Soil  </a:t>
            </a:r>
            <a:r>
              <a:rPr sz="3201" b="1" spc="-253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3201" b="1" spc="-13" dirty="0">
                <a:solidFill>
                  <a:srgbClr val="FFFFFF"/>
                </a:solidFill>
                <a:latin typeface="Arial"/>
                <a:cs typeface="Arial"/>
              </a:rPr>
              <a:t>ol</a:t>
            </a:r>
            <a:r>
              <a:rPr sz="3201" b="1" spc="-7" dirty="0">
                <a:solidFill>
                  <a:srgbClr val="FFFFFF"/>
                </a:solidFill>
                <a:latin typeface="Arial"/>
                <a:cs typeface="Arial"/>
              </a:rPr>
              <a:t>ca</a:t>
            </a:r>
            <a:r>
              <a:rPr sz="3201" b="1" spc="-13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201" b="1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endParaRPr sz="3201">
              <a:latin typeface="Arial"/>
              <a:cs typeface="Arial"/>
            </a:endParaRPr>
          </a:p>
          <a:p>
            <a:pPr marL="16936">
              <a:spcBef>
                <a:spcPts val="33"/>
              </a:spcBef>
            </a:pPr>
            <a:r>
              <a:rPr sz="3201" b="1" spc="-7" dirty="0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3201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43310" y="1726367"/>
            <a:ext cx="1407105" cy="3442309"/>
          </a:xfrm>
          <a:prstGeom prst="rect">
            <a:avLst/>
          </a:prstGeom>
        </p:spPr>
        <p:txBody>
          <a:bodyPr vert="horz" wrap="square" lIns="0" tIns="23706" rIns="0" bIns="0" rtlCol="0">
            <a:spAutoFit/>
          </a:bodyPr>
          <a:lstStyle/>
          <a:p>
            <a:pPr marL="16936" marR="6773">
              <a:lnSpc>
                <a:spcPct val="98700"/>
              </a:lnSpc>
              <a:spcBef>
                <a:spcPts val="187"/>
              </a:spcBef>
            </a:pPr>
            <a:r>
              <a:rPr sz="3201" b="1" spc="-13" dirty="0">
                <a:solidFill>
                  <a:srgbClr val="FFFFFF"/>
                </a:solidFill>
                <a:latin typeface="Arial"/>
                <a:cs typeface="Arial"/>
              </a:rPr>
              <a:t>River  </a:t>
            </a:r>
            <a:r>
              <a:rPr sz="3201" b="1" spc="-7" dirty="0">
                <a:solidFill>
                  <a:srgbClr val="FFFFFF"/>
                </a:solidFill>
                <a:latin typeface="Arial"/>
                <a:cs typeface="Arial"/>
              </a:rPr>
              <a:t>Lake  </a:t>
            </a:r>
            <a:r>
              <a:rPr sz="3201" b="1" spc="-13" dirty="0">
                <a:solidFill>
                  <a:srgbClr val="FFFFFF"/>
                </a:solidFill>
                <a:latin typeface="Arial"/>
                <a:cs typeface="Arial"/>
              </a:rPr>
              <a:t>Ocean  </a:t>
            </a:r>
            <a:r>
              <a:rPr sz="3201" b="1" spc="-2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3201" b="1" spc="-13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3201" b="1" spc="-7" dirty="0">
                <a:solidFill>
                  <a:srgbClr val="FFFFFF"/>
                </a:solidFill>
                <a:latin typeface="Arial"/>
                <a:cs typeface="Arial"/>
              </a:rPr>
              <a:t>ac</a:t>
            </a:r>
            <a:r>
              <a:rPr sz="3201" b="1" spc="-13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201" b="1" spc="-7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201" b="1" dirty="0">
                <a:solidFill>
                  <a:srgbClr val="FFFFFF"/>
                </a:solidFill>
                <a:latin typeface="Arial"/>
                <a:cs typeface="Arial"/>
              </a:rPr>
              <a:t>r  </a:t>
            </a:r>
            <a:r>
              <a:rPr sz="3201" b="1" spc="-13" dirty="0">
                <a:solidFill>
                  <a:srgbClr val="FFFFFF"/>
                </a:solidFill>
                <a:latin typeface="Arial"/>
                <a:cs typeface="Arial"/>
              </a:rPr>
              <a:t>Animal  Plant</a:t>
            </a:r>
            <a:endParaRPr sz="3201">
              <a:latin typeface="Arial"/>
              <a:cs typeface="Arial"/>
            </a:endParaRPr>
          </a:p>
          <a:p>
            <a:pPr marL="16936">
              <a:spcBef>
                <a:spcPts val="33"/>
              </a:spcBef>
            </a:pPr>
            <a:r>
              <a:rPr sz="3201" b="1" spc="-7" dirty="0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3201">
              <a:latin typeface="Arial"/>
              <a:cs typeface="Arial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AF79DF-42CB-4116-99F7-EC42C7B5AC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2" y="297887"/>
            <a:ext cx="2820136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-20" dirty="0"/>
              <a:t>We </a:t>
            </a:r>
            <a:r>
              <a:rPr sz="3600" b="1" dirty="0"/>
              <a:t>will</a:t>
            </a:r>
            <a:r>
              <a:rPr sz="3600" b="1" spc="13" dirty="0"/>
              <a:t> </a:t>
            </a:r>
            <a:r>
              <a:rPr sz="3600" b="1" dirty="0"/>
              <a:t>learn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617908" y="1027224"/>
            <a:ext cx="8191803" cy="64455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AF7F65-411E-4BF7-AF42-89CE4727CD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17908" y="1027224"/>
            <a:ext cx="8191803" cy="64455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2617908" y="1027219"/>
            <a:ext cx="8192024" cy="6446266"/>
          </a:xfrm>
          <a:custGeom>
            <a:avLst/>
            <a:gdLst/>
            <a:ahLst/>
            <a:cxnLst/>
            <a:rect l="l" t="t" r="r" b="b"/>
            <a:pathLst>
              <a:path w="6144259" h="4834890">
                <a:moveTo>
                  <a:pt x="0" y="0"/>
                </a:moveTo>
                <a:lnTo>
                  <a:pt x="6144094" y="0"/>
                </a:lnTo>
                <a:lnTo>
                  <a:pt x="6144094" y="4834389"/>
                </a:lnTo>
                <a:lnTo>
                  <a:pt x="0" y="48343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20374" y="297887"/>
            <a:ext cx="6179577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-20" dirty="0"/>
              <a:t>We </a:t>
            </a:r>
            <a:r>
              <a:rPr sz="3600" b="1" dirty="0"/>
              <a:t>will learn the systems</a:t>
            </a:r>
            <a:r>
              <a:rPr sz="3600" b="1" spc="167" dirty="0"/>
              <a:t> </a:t>
            </a:r>
            <a:r>
              <a:rPr sz="3600" b="1" dirty="0"/>
              <a:t>of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3220069" y="1523170"/>
            <a:ext cx="2380733" cy="50966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3201" b="1" spc="-13" dirty="0">
                <a:latin typeface="Arial"/>
                <a:cs typeface="Arial"/>
              </a:rPr>
              <a:t>Atmosphere</a:t>
            </a:r>
            <a:endParaRPr sz="3201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4619" y="1523170"/>
            <a:ext cx="2517041" cy="50966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3201" b="1" spc="-13" dirty="0">
                <a:latin typeface="Arial"/>
                <a:cs typeface="Arial"/>
              </a:rPr>
              <a:t>Hydrosphere</a:t>
            </a:r>
            <a:endParaRPr sz="3201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1401" y="5387882"/>
            <a:ext cx="1998055" cy="50966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3201" b="1" spc="-13" dirty="0">
                <a:latin typeface="Arial"/>
                <a:cs typeface="Arial"/>
              </a:rPr>
              <a:t>Biosphere</a:t>
            </a:r>
            <a:endParaRPr sz="3201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3089" y="5383818"/>
            <a:ext cx="2134363" cy="50966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>
              <a:spcBef>
                <a:spcPts val="133"/>
              </a:spcBef>
            </a:pPr>
            <a:r>
              <a:rPr sz="3201" b="1" spc="-13" dirty="0">
                <a:latin typeface="Arial"/>
                <a:cs typeface="Arial"/>
              </a:rPr>
              <a:t>Geosphere</a:t>
            </a:r>
            <a:endParaRPr sz="3201">
              <a:latin typeface="Arial"/>
              <a:cs typeface="Arial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BAC78D0-B97E-424C-913C-09C7DE29BA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4" y="297887"/>
            <a:ext cx="6179577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-20" dirty="0"/>
              <a:t>We </a:t>
            </a:r>
            <a:r>
              <a:rPr sz="3600" b="1" dirty="0"/>
              <a:t>will learn the systems</a:t>
            </a:r>
            <a:r>
              <a:rPr sz="3600" b="1" spc="167" dirty="0"/>
              <a:t> </a:t>
            </a:r>
            <a:r>
              <a:rPr sz="3600" b="1" dirty="0"/>
              <a:t>of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014469" y="5270813"/>
            <a:ext cx="2014987" cy="1309882"/>
          </a:xfrm>
          <a:prstGeom prst="rect">
            <a:avLst/>
          </a:prstGeom>
        </p:spPr>
        <p:txBody>
          <a:bodyPr vert="horz" wrap="square" lIns="0" tIns="133767" rIns="0" bIns="0" rtlCol="0">
            <a:spAutoFit/>
          </a:bodyPr>
          <a:lstStyle/>
          <a:p>
            <a:pPr marL="16936">
              <a:spcBef>
                <a:spcPts val="1053"/>
              </a:spcBef>
            </a:pPr>
            <a:r>
              <a:rPr sz="3201" b="1" spc="-13" dirty="0">
                <a:solidFill>
                  <a:srgbClr val="A6A6A6"/>
                </a:solidFill>
                <a:latin typeface="Arial"/>
                <a:cs typeface="Arial"/>
              </a:rPr>
              <a:t>Biosphere</a:t>
            </a:r>
            <a:endParaRPr sz="3201">
              <a:latin typeface="Arial"/>
              <a:cs typeface="Arial"/>
            </a:endParaRPr>
          </a:p>
          <a:p>
            <a:pPr marL="92295">
              <a:spcBef>
                <a:spcPts val="1033"/>
              </a:spcBef>
            </a:pP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Ecology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6155" y="5263133"/>
            <a:ext cx="2151295" cy="1326980"/>
          </a:xfrm>
          <a:prstGeom prst="rect">
            <a:avLst/>
          </a:prstGeom>
        </p:spPr>
        <p:txBody>
          <a:bodyPr vert="horz" wrap="square" lIns="0" tIns="138000" rIns="0" bIns="0" rtlCol="0">
            <a:spAutoFit/>
          </a:bodyPr>
          <a:lstStyle/>
          <a:p>
            <a:pPr algn="ctr">
              <a:spcBef>
                <a:spcPts val="1088"/>
              </a:spcBef>
            </a:pPr>
            <a:r>
              <a:rPr sz="3201" b="1" spc="-13" dirty="0">
                <a:solidFill>
                  <a:srgbClr val="A6A6A6"/>
                </a:solidFill>
                <a:latin typeface="Arial"/>
                <a:cs typeface="Arial"/>
              </a:rPr>
              <a:t>Geosphere</a:t>
            </a:r>
            <a:endParaRPr sz="3201">
              <a:latin typeface="Arial"/>
              <a:cs typeface="Arial"/>
            </a:endParaRPr>
          </a:p>
          <a:p>
            <a:pPr marL="83827" algn="ctr">
              <a:spcBef>
                <a:spcPts val="1073"/>
              </a:spcBef>
            </a:pP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Geology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27687" y="1424159"/>
            <a:ext cx="2533974" cy="1279106"/>
          </a:xfrm>
          <a:prstGeom prst="rect">
            <a:avLst/>
          </a:prstGeom>
        </p:spPr>
        <p:txBody>
          <a:bodyPr vert="horz" wrap="square" lIns="0" tIns="115989" rIns="0" bIns="0" rtlCol="0">
            <a:spAutoFit/>
          </a:bodyPr>
          <a:lstStyle/>
          <a:p>
            <a:pPr algn="ctr">
              <a:spcBef>
                <a:spcPts val="913"/>
              </a:spcBef>
            </a:pPr>
            <a:r>
              <a:rPr sz="3201" b="1" spc="-13" dirty="0">
                <a:solidFill>
                  <a:srgbClr val="A6A6A6"/>
                </a:solidFill>
                <a:latin typeface="Arial"/>
                <a:cs typeface="Arial"/>
              </a:rPr>
              <a:t>Hydrosphere</a:t>
            </a:r>
            <a:endParaRPr sz="3201">
              <a:latin typeface="Arial"/>
              <a:cs typeface="Arial"/>
            </a:endParaRPr>
          </a:p>
          <a:p>
            <a:pPr marR="38947" algn="ctr">
              <a:spcBef>
                <a:spcPts val="873"/>
              </a:spcBef>
            </a:pP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Hydrology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55025" y="1424159"/>
            <a:ext cx="2673668" cy="1279106"/>
          </a:xfrm>
          <a:prstGeom prst="rect">
            <a:avLst/>
          </a:prstGeom>
        </p:spPr>
        <p:txBody>
          <a:bodyPr vert="horz" wrap="square" lIns="0" tIns="115989" rIns="0" bIns="0" rtlCol="0">
            <a:spAutoFit/>
          </a:bodyPr>
          <a:lstStyle/>
          <a:p>
            <a:pPr marL="20322" algn="ctr">
              <a:spcBef>
                <a:spcPts val="913"/>
              </a:spcBef>
            </a:pPr>
            <a:r>
              <a:rPr sz="3201" b="1" spc="-13" dirty="0">
                <a:solidFill>
                  <a:srgbClr val="A6A6A6"/>
                </a:solidFill>
                <a:latin typeface="Arial"/>
                <a:cs typeface="Arial"/>
              </a:rPr>
              <a:t>Atmosphere</a:t>
            </a:r>
            <a:endParaRPr sz="3201">
              <a:latin typeface="Arial"/>
              <a:cs typeface="Arial"/>
            </a:endParaRPr>
          </a:p>
          <a:p>
            <a:pPr algn="ctr">
              <a:spcBef>
                <a:spcPts val="873"/>
              </a:spcBef>
            </a:pP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Climatology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23074" y="2828082"/>
            <a:ext cx="473268" cy="502054"/>
          </a:xfrm>
          <a:custGeom>
            <a:avLst/>
            <a:gdLst/>
            <a:ahLst/>
            <a:cxnLst/>
            <a:rect l="l" t="t" r="r" b="b"/>
            <a:pathLst>
              <a:path w="354964" h="376554">
                <a:moveTo>
                  <a:pt x="95084" y="0"/>
                </a:moveTo>
                <a:lnTo>
                  <a:pt x="0" y="84581"/>
                </a:lnTo>
                <a:lnTo>
                  <a:pt x="212293" y="323545"/>
                </a:lnTo>
                <a:lnTo>
                  <a:pt x="164744" y="365836"/>
                </a:lnTo>
                <a:lnTo>
                  <a:pt x="344360" y="376402"/>
                </a:lnTo>
                <a:lnTo>
                  <a:pt x="352431" y="238950"/>
                </a:lnTo>
                <a:lnTo>
                  <a:pt x="307378" y="238950"/>
                </a:lnTo>
                <a:lnTo>
                  <a:pt x="95084" y="0"/>
                </a:lnTo>
                <a:close/>
              </a:path>
              <a:path w="354964" h="376554">
                <a:moveTo>
                  <a:pt x="354914" y="196659"/>
                </a:moveTo>
                <a:lnTo>
                  <a:pt x="307378" y="238950"/>
                </a:lnTo>
                <a:lnTo>
                  <a:pt x="352431" y="238950"/>
                </a:lnTo>
                <a:lnTo>
                  <a:pt x="354914" y="196659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7860957" y="2840570"/>
            <a:ext cx="480888" cy="482581"/>
          </a:xfrm>
          <a:custGeom>
            <a:avLst/>
            <a:gdLst/>
            <a:ahLst/>
            <a:cxnLst/>
            <a:rect l="l" t="t" r="r" b="b"/>
            <a:pathLst>
              <a:path w="360679" h="361950">
                <a:moveTo>
                  <a:pt x="270446" y="0"/>
                </a:moveTo>
                <a:lnTo>
                  <a:pt x="45097" y="226669"/>
                </a:lnTo>
                <a:lnTo>
                  <a:pt x="117" y="226669"/>
                </a:lnTo>
                <a:lnTo>
                  <a:pt x="469" y="361822"/>
                </a:lnTo>
                <a:lnTo>
                  <a:pt x="180390" y="361365"/>
                </a:lnTo>
                <a:lnTo>
                  <a:pt x="135293" y="316471"/>
                </a:lnTo>
                <a:lnTo>
                  <a:pt x="224571" y="226669"/>
                </a:lnTo>
                <a:lnTo>
                  <a:pt x="45097" y="226669"/>
                </a:lnTo>
                <a:lnTo>
                  <a:pt x="0" y="181775"/>
                </a:lnTo>
                <a:lnTo>
                  <a:pt x="269204" y="181775"/>
                </a:lnTo>
                <a:lnTo>
                  <a:pt x="360641" y="89801"/>
                </a:lnTo>
                <a:lnTo>
                  <a:pt x="270446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7848433" y="4901857"/>
            <a:ext cx="476655" cy="495281"/>
          </a:xfrm>
          <a:custGeom>
            <a:avLst/>
            <a:gdLst/>
            <a:ahLst/>
            <a:cxnLst/>
            <a:rect l="l" t="t" r="r" b="b"/>
            <a:pathLst>
              <a:path w="357504" h="371475">
                <a:moveTo>
                  <a:pt x="220007" y="136690"/>
                </a:moveTo>
                <a:lnTo>
                  <a:pt x="46697" y="136690"/>
                </a:lnTo>
                <a:lnTo>
                  <a:pt x="263664" y="371398"/>
                </a:lnTo>
                <a:lnTo>
                  <a:pt x="357060" y="284949"/>
                </a:lnTo>
                <a:lnTo>
                  <a:pt x="220007" y="136690"/>
                </a:lnTo>
                <a:close/>
              </a:path>
              <a:path w="357504" h="371475">
                <a:moveTo>
                  <a:pt x="6997" y="0"/>
                </a:moveTo>
                <a:lnTo>
                  <a:pt x="0" y="179908"/>
                </a:lnTo>
                <a:lnTo>
                  <a:pt x="46697" y="136690"/>
                </a:lnTo>
                <a:lnTo>
                  <a:pt x="220007" y="136690"/>
                </a:lnTo>
                <a:lnTo>
                  <a:pt x="140093" y="50241"/>
                </a:lnTo>
                <a:lnTo>
                  <a:pt x="186791" y="7010"/>
                </a:lnTo>
                <a:lnTo>
                  <a:pt x="699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5220139" y="4910764"/>
            <a:ext cx="480888" cy="485121"/>
          </a:xfrm>
          <a:custGeom>
            <a:avLst/>
            <a:gdLst/>
            <a:ahLst/>
            <a:cxnLst/>
            <a:rect l="l" t="t" r="r" b="b"/>
            <a:pathLst>
              <a:path w="360679" h="363854">
                <a:moveTo>
                  <a:pt x="358673" y="0"/>
                </a:moveTo>
                <a:lnTo>
                  <a:pt x="178752" y="1460"/>
                </a:lnTo>
                <a:lnTo>
                  <a:pt x="224104" y="46101"/>
                </a:lnTo>
                <a:lnTo>
                  <a:pt x="0" y="274002"/>
                </a:lnTo>
                <a:lnTo>
                  <a:pt x="90690" y="363296"/>
                </a:lnTo>
                <a:lnTo>
                  <a:pt x="314782" y="135394"/>
                </a:lnTo>
                <a:lnTo>
                  <a:pt x="359771" y="135394"/>
                </a:lnTo>
                <a:lnTo>
                  <a:pt x="358673" y="0"/>
                </a:lnTo>
                <a:close/>
              </a:path>
              <a:path w="360679" h="363854">
                <a:moveTo>
                  <a:pt x="359771" y="135394"/>
                </a:moveTo>
                <a:lnTo>
                  <a:pt x="314782" y="135394"/>
                </a:lnTo>
                <a:lnTo>
                  <a:pt x="360133" y="180047"/>
                </a:lnTo>
                <a:lnTo>
                  <a:pt x="359771" y="135394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4929065" y="3436211"/>
            <a:ext cx="3596498" cy="1139755"/>
          </a:xfrm>
          <a:prstGeom prst="rect">
            <a:avLst/>
          </a:prstGeom>
        </p:spPr>
        <p:txBody>
          <a:bodyPr vert="horz" wrap="square" lIns="0" tIns="54185" rIns="0" bIns="0" rtlCol="0">
            <a:spAutoFit/>
          </a:bodyPr>
          <a:lstStyle/>
          <a:p>
            <a:pPr marR="46571" algn="ctr">
              <a:spcBef>
                <a:spcPts val="427"/>
              </a:spcBef>
            </a:pPr>
            <a:r>
              <a:rPr sz="3201" b="1" spc="-27" dirty="0">
                <a:solidFill>
                  <a:srgbClr val="A6A6A6"/>
                </a:solidFill>
                <a:latin typeface="Arial"/>
                <a:cs typeface="Arial"/>
              </a:rPr>
              <a:t>Earth’s</a:t>
            </a:r>
            <a:r>
              <a:rPr sz="3201" b="1" spc="-113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3201" b="1" spc="-7" dirty="0">
                <a:solidFill>
                  <a:srgbClr val="A6A6A6"/>
                </a:solidFill>
                <a:latin typeface="Arial"/>
                <a:cs typeface="Arial"/>
              </a:rPr>
              <a:t>surface</a:t>
            </a:r>
            <a:endParaRPr sz="3201">
              <a:latin typeface="Arial"/>
              <a:cs typeface="Arial"/>
            </a:endParaRPr>
          </a:p>
          <a:p>
            <a:pPr algn="ctr">
              <a:spcBef>
                <a:spcPts val="327"/>
              </a:spcBef>
            </a:pP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Geomorphology</a:t>
            </a:r>
            <a:endParaRPr sz="3600">
              <a:latin typeface="Arial"/>
              <a:cs typeface="Arial"/>
            </a:endParaRPr>
          </a:p>
        </p:txBody>
      </p:sp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0D513F10-3D8F-4267-B7C1-D68D29D2C3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3" y="297887"/>
            <a:ext cx="4367781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Geosphere Process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73" y="1257990"/>
            <a:ext cx="9083529" cy="1072212"/>
          </a:xfrm>
          <a:prstGeom prst="rect">
            <a:avLst/>
          </a:prstGeom>
        </p:spPr>
        <p:txBody>
          <a:bodyPr vert="horz" wrap="square" lIns="0" tIns="134615" rIns="0" bIns="0" rtlCol="0">
            <a:spAutoFit/>
          </a:bodyPr>
          <a:lstStyle/>
          <a:p>
            <a:pPr marL="276884" indent="-259950">
              <a:spcBef>
                <a:spcPts val="106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Spatial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pattern of lithospheric </a:t>
            </a: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movement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667" spc="2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deformation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27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Forces due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plate tectonics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Earth interior</a:t>
            </a:r>
            <a:r>
              <a:rPr sz="2667" spc="4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activities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01822" y="2431058"/>
            <a:ext cx="10623961" cy="49036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2165B1A-81E6-48A9-8477-5AB8B07914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7" y="297887"/>
            <a:ext cx="4649710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Atmosphere</a:t>
            </a:r>
            <a:r>
              <a:rPr sz="3600" b="1" spc="20" dirty="0"/>
              <a:t> </a:t>
            </a:r>
            <a:r>
              <a:rPr sz="3600" b="1" dirty="0"/>
              <a:t>Process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74" y="1257988"/>
            <a:ext cx="9249469" cy="1072212"/>
          </a:xfrm>
          <a:prstGeom prst="rect">
            <a:avLst/>
          </a:prstGeom>
        </p:spPr>
        <p:txBody>
          <a:bodyPr vert="horz" wrap="square" lIns="0" tIns="134615" rIns="0" bIns="0" rtlCol="0">
            <a:spAutoFit/>
          </a:bodyPr>
          <a:lstStyle/>
          <a:p>
            <a:pPr marL="276884" indent="-259950">
              <a:spcBef>
                <a:spcPts val="106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Spatial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pattern of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global</a:t>
            </a:r>
            <a:r>
              <a:rPr sz="2667" spc="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climate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27"/>
              </a:spcBef>
              <a:buChar char="•"/>
              <a:tabLst>
                <a:tab pos="277728" algn="l"/>
              </a:tabLst>
            </a:pP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Earth’s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energy </a:t>
            </a: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budget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and process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temperature</a:t>
            </a:r>
            <a:r>
              <a:rPr sz="2667" spc="2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change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42057" y="2444116"/>
            <a:ext cx="6743501" cy="5047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18EC016-2A2A-440E-A1B3-FD2F7F8AFD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6" y="297887"/>
            <a:ext cx="4802950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Hydrosphere</a:t>
            </a:r>
            <a:r>
              <a:rPr sz="3600" b="1" spc="7" dirty="0"/>
              <a:t> </a:t>
            </a:r>
            <a:r>
              <a:rPr sz="3600" b="1" dirty="0"/>
              <a:t>Process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72" y="1257988"/>
            <a:ext cx="10952048" cy="1072212"/>
          </a:xfrm>
          <a:prstGeom prst="rect">
            <a:avLst/>
          </a:prstGeom>
        </p:spPr>
        <p:txBody>
          <a:bodyPr vert="horz" wrap="square" lIns="0" tIns="134615" rIns="0" bIns="0" rtlCol="0">
            <a:spAutoFit/>
          </a:bodyPr>
          <a:lstStyle/>
          <a:p>
            <a:pPr marL="276884" indent="-259950">
              <a:spcBef>
                <a:spcPts val="106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spatial pattern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and process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water</a:t>
            </a:r>
            <a:r>
              <a:rPr sz="2667" spc="20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cycle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27"/>
              </a:spcBef>
              <a:buChar char="•"/>
              <a:tabLst>
                <a:tab pos="277728" algn="l"/>
              </a:tabLst>
            </a:pP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Fluid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dynamics due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energy change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potential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kinetic</a:t>
            </a:r>
            <a:r>
              <a:rPr sz="2667" spc="5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energy.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10250" y="2502277"/>
            <a:ext cx="7207118" cy="4940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8C8767B-7F7A-4C73-86A2-3CC6E9E643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8" y="297887"/>
            <a:ext cx="4212848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Biosphere</a:t>
            </a:r>
            <a:r>
              <a:rPr sz="3600" b="1" spc="47" dirty="0"/>
              <a:t> </a:t>
            </a:r>
            <a:r>
              <a:rPr sz="3600" b="1" dirty="0"/>
              <a:t>Process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74" y="1257990"/>
            <a:ext cx="5846003" cy="1072212"/>
          </a:xfrm>
          <a:prstGeom prst="rect">
            <a:avLst/>
          </a:prstGeom>
        </p:spPr>
        <p:txBody>
          <a:bodyPr vert="horz" wrap="square" lIns="0" tIns="134615" rIns="0" bIns="0" rtlCol="0">
            <a:spAutoFit/>
          </a:bodyPr>
          <a:lstStyle/>
          <a:p>
            <a:pPr marL="276884" indent="-259950">
              <a:spcBef>
                <a:spcPts val="106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Spatial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pattern of biologic</a:t>
            </a:r>
            <a:r>
              <a:rPr sz="2667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species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27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Ecologic process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of biologic</a:t>
            </a:r>
            <a:r>
              <a:rPr sz="2667" spc="10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species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16249" y="2411312"/>
            <a:ext cx="5395120" cy="51457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5930062" y="7335978"/>
            <a:ext cx="1548492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1333" dirty="0">
                <a:latin typeface="Arial"/>
                <a:cs typeface="Arial"/>
              </a:rPr>
              <a:t>Rangel </a:t>
            </a:r>
            <a:r>
              <a:rPr sz="1333" spc="-7" dirty="0">
                <a:latin typeface="Arial"/>
                <a:cs typeface="Arial"/>
              </a:rPr>
              <a:t>et al.</a:t>
            </a:r>
            <a:r>
              <a:rPr sz="1333" spc="67" dirty="0">
                <a:latin typeface="Arial"/>
                <a:cs typeface="Arial"/>
              </a:rPr>
              <a:t> </a:t>
            </a:r>
            <a:r>
              <a:rPr sz="1333" spc="-7" dirty="0">
                <a:latin typeface="Arial"/>
                <a:cs typeface="Arial"/>
              </a:rPr>
              <a:t>(2018)</a:t>
            </a:r>
            <a:endParaRPr sz="1333">
              <a:latin typeface="Arial"/>
              <a:cs typeface="Arial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177B2F-8E94-4C3A-B4C8-53BEC49E22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4" y="297887"/>
            <a:ext cx="3649836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Surface</a:t>
            </a:r>
            <a:r>
              <a:rPr sz="3600" b="1" spc="-13" dirty="0"/>
              <a:t> </a:t>
            </a:r>
            <a:r>
              <a:rPr sz="3600" b="1" dirty="0"/>
              <a:t>Process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935426" y="1198990"/>
            <a:ext cx="10400891" cy="4519327"/>
          </a:xfrm>
          <a:custGeom>
            <a:avLst/>
            <a:gdLst/>
            <a:ahLst/>
            <a:cxnLst/>
            <a:rect l="l" t="t" r="r" b="b"/>
            <a:pathLst>
              <a:path w="7800975" h="3389629">
                <a:moveTo>
                  <a:pt x="0" y="0"/>
                </a:moveTo>
                <a:lnTo>
                  <a:pt x="7800975" y="0"/>
                </a:lnTo>
                <a:lnTo>
                  <a:pt x="7800975" y="3389083"/>
                </a:lnTo>
                <a:lnTo>
                  <a:pt x="0" y="33890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1935426" y="1198990"/>
            <a:ext cx="10400891" cy="4519327"/>
          </a:xfrm>
          <a:custGeom>
            <a:avLst/>
            <a:gdLst/>
            <a:ahLst/>
            <a:cxnLst/>
            <a:rect l="l" t="t" r="r" b="b"/>
            <a:pathLst>
              <a:path w="7800975" h="3389629">
                <a:moveTo>
                  <a:pt x="0" y="0"/>
                </a:moveTo>
                <a:lnTo>
                  <a:pt x="7800975" y="0"/>
                </a:lnTo>
                <a:lnTo>
                  <a:pt x="7800975" y="3389086"/>
                </a:lnTo>
                <a:lnTo>
                  <a:pt x="0" y="3389086"/>
                </a:lnTo>
                <a:lnTo>
                  <a:pt x="0" y="0"/>
                </a:lnTo>
                <a:close/>
              </a:path>
            </a:pathLst>
          </a:custGeom>
          <a:ln w="108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935410" y="4037396"/>
            <a:ext cx="10400891" cy="3375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2265829" y="1198990"/>
            <a:ext cx="9740059" cy="27087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D65C2F-8F3E-4D4E-8881-50AAECAE2E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3" y="297887"/>
            <a:ext cx="4468529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Physical</a:t>
            </a:r>
            <a:r>
              <a:rPr sz="3600" b="1" spc="67" dirty="0"/>
              <a:t> </a:t>
            </a:r>
            <a:r>
              <a:rPr sz="3600" b="1" dirty="0"/>
              <a:t>Geography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73" y="1257989"/>
            <a:ext cx="2760871" cy="2636935"/>
          </a:xfrm>
          <a:prstGeom prst="rect">
            <a:avLst/>
          </a:prstGeom>
        </p:spPr>
        <p:txBody>
          <a:bodyPr vert="horz" wrap="square" lIns="0" tIns="134615" rIns="0" bIns="0" rtlCol="0">
            <a:spAutoFit/>
          </a:bodyPr>
          <a:lstStyle/>
          <a:p>
            <a:pPr marL="276884" indent="-259950">
              <a:spcBef>
                <a:spcPts val="1060"/>
              </a:spcBef>
              <a:buChar char="•"/>
              <a:tabLst>
                <a:tab pos="277728" algn="l"/>
              </a:tabLst>
            </a:pP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Geomorphology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27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Climatology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80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Hydrology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6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Geology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80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Ecology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95D4C9-70FD-4C79-9085-B4B41B1028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3617" y="2205896"/>
            <a:ext cx="6204129" cy="50966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201" b="1" spc="-13" dirty="0"/>
              <a:t>How </a:t>
            </a:r>
            <a:r>
              <a:rPr sz="3201" b="1" spc="-7" dirty="0"/>
              <a:t>to study the </a:t>
            </a:r>
            <a:r>
              <a:rPr sz="3201" b="1" spc="-13" dirty="0"/>
              <a:t>Earth</a:t>
            </a:r>
            <a:r>
              <a:rPr sz="3201" b="1" spc="-40" dirty="0"/>
              <a:t> </a:t>
            </a:r>
            <a:r>
              <a:rPr sz="3201" b="1" spc="-13" dirty="0"/>
              <a:t>system?</a:t>
            </a:r>
            <a:endParaRPr sz="3201"/>
          </a:p>
        </p:txBody>
      </p:sp>
      <p:sp>
        <p:nvSpPr>
          <p:cNvPr id="3" name="object 3"/>
          <p:cNvSpPr/>
          <p:nvPr/>
        </p:nvSpPr>
        <p:spPr>
          <a:xfrm>
            <a:off x="2491294" y="3887660"/>
            <a:ext cx="3030743" cy="30328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2978524" y="3236807"/>
            <a:ext cx="7331845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  <a:tabLst>
                <a:tab pos="5893289" algn="l"/>
              </a:tabLst>
            </a:pPr>
            <a:r>
              <a:rPr sz="2667" b="1" spc="13" dirty="0">
                <a:solidFill>
                  <a:srgbClr val="FFFFFF"/>
                </a:solidFill>
                <a:latin typeface="Arial"/>
                <a:cs typeface="Arial"/>
              </a:rPr>
              <a:t>Observation	Analysis</a:t>
            </a:r>
            <a:endParaRPr sz="2667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69693" y="3887660"/>
            <a:ext cx="3030743" cy="30328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8368E3-7D3C-4F07-A7C0-04395C2C9D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9" y="297887"/>
            <a:ext cx="6210054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How </a:t>
            </a:r>
            <a:r>
              <a:rPr sz="3600" b="1" spc="-7" dirty="0"/>
              <a:t>to </a:t>
            </a:r>
            <a:r>
              <a:rPr sz="3600" b="1" dirty="0"/>
              <a:t>Make</a:t>
            </a:r>
            <a:r>
              <a:rPr sz="3600" b="1" spc="167" dirty="0"/>
              <a:t> </a:t>
            </a:r>
            <a:r>
              <a:rPr sz="3600" b="1" dirty="0"/>
              <a:t>Observations?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987473" y="1085639"/>
            <a:ext cx="9459366" cy="63207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AB3E47-5653-4F52-8E28-4475A8BC54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9" y="297887"/>
            <a:ext cx="6210054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How </a:t>
            </a:r>
            <a:r>
              <a:rPr sz="3600" b="1" spc="-7" dirty="0"/>
              <a:t>to </a:t>
            </a:r>
            <a:r>
              <a:rPr sz="3600" b="1" dirty="0"/>
              <a:t>Make</a:t>
            </a:r>
            <a:r>
              <a:rPr sz="3600" b="1" spc="167" dirty="0"/>
              <a:t> </a:t>
            </a:r>
            <a:r>
              <a:rPr sz="3600" b="1" dirty="0"/>
              <a:t>Observations?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68" y="1257992"/>
            <a:ext cx="7446987" cy="4714684"/>
          </a:xfrm>
          <a:prstGeom prst="rect">
            <a:avLst/>
          </a:prstGeom>
        </p:spPr>
        <p:txBody>
          <a:bodyPr vert="horz" wrap="square" lIns="0" tIns="134615" rIns="0" bIns="0" rtlCol="0">
            <a:spAutoFit/>
          </a:bodyPr>
          <a:lstStyle/>
          <a:p>
            <a:pPr marL="276884" indent="-259950">
              <a:spcBef>
                <a:spcPts val="1060"/>
              </a:spcBef>
              <a:buChar char="•"/>
              <a:tabLst>
                <a:tab pos="277728" algn="l"/>
              </a:tabLst>
            </a:pP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Field</a:t>
            </a:r>
            <a:r>
              <a:rPr sz="2667" spc="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investigation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27"/>
              </a:spcBef>
              <a:buChar char="•"/>
              <a:tabLst>
                <a:tab pos="277728" algn="l"/>
              </a:tabLst>
            </a:pP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Measurements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equipment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667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devices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80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Collect samples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(bio-)geochemical</a:t>
            </a:r>
            <a:r>
              <a:rPr sz="2667" spc="2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6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Remote</a:t>
            </a:r>
            <a:r>
              <a:rPr sz="2667" spc="-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sensing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80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Geodesy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27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Geophysical methods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793"/>
              </a:spcBef>
              <a:buChar char="•"/>
              <a:tabLst>
                <a:tab pos="277728" algn="l"/>
              </a:tabLst>
            </a:pP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IOT</a:t>
            </a:r>
            <a:r>
              <a:rPr sz="2667" spc="-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sensors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793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Social media and open</a:t>
            </a:r>
            <a:r>
              <a:rPr sz="2667" spc="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27"/>
              </a:spcBef>
              <a:buChar char="•"/>
              <a:tabLst>
                <a:tab pos="277728" algn="l"/>
              </a:tabLst>
            </a:pP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Many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more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spatial</a:t>
            </a:r>
            <a:r>
              <a:rPr sz="2667" spc="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D640F5-D796-403B-A494-5041EE7249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29</a:t>
            </a:fld>
            <a:endParaRPr lang="zh-TW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0708" y="-105017"/>
            <a:ext cx="12019067" cy="45145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707830" y="3673478"/>
            <a:ext cx="12011938" cy="40066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2444C9-67BF-4A00-9DD6-FB0D7BCD48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30</a:t>
            </a:fld>
            <a:endParaRPr lang="zh-TW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8" y="297887"/>
            <a:ext cx="4835124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How </a:t>
            </a:r>
            <a:r>
              <a:rPr sz="3600" b="1" spc="-7" dirty="0"/>
              <a:t>to </a:t>
            </a:r>
            <a:r>
              <a:rPr sz="3600" b="1" dirty="0"/>
              <a:t>Analyze</a:t>
            </a:r>
            <a:r>
              <a:rPr sz="3600" b="1" spc="-40" dirty="0"/>
              <a:t> </a:t>
            </a:r>
            <a:r>
              <a:rPr sz="3600" b="1" dirty="0"/>
              <a:t>Data?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387596" y="1167284"/>
            <a:ext cx="8652423" cy="61690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9509509" y="7145669"/>
            <a:ext cx="1524787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1200" spc="-33" dirty="0">
                <a:solidFill>
                  <a:srgbClr val="7D7D7D"/>
                </a:solidFill>
                <a:latin typeface="Calibri"/>
                <a:cs typeface="Calibri"/>
              </a:rPr>
              <a:t>Sciencecartoonsplus.com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99629C-EC29-4134-B9F3-85C2BAA103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31</a:t>
            </a:fld>
            <a:endParaRPr lang="zh-TW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8" y="297887"/>
            <a:ext cx="4835124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How </a:t>
            </a:r>
            <a:r>
              <a:rPr sz="3600" b="1" spc="-7" dirty="0"/>
              <a:t>to </a:t>
            </a:r>
            <a:r>
              <a:rPr sz="3600" b="1" dirty="0"/>
              <a:t>Analyze</a:t>
            </a:r>
            <a:r>
              <a:rPr sz="3600" b="1" spc="-40" dirty="0"/>
              <a:t> </a:t>
            </a:r>
            <a:r>
              <a:rPr sz="3600" b="1" dirty="0"/>
              <a:t>Data?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69" y="1257988"/>
            <a:ext cx="5170391" cy="2636935"/>
          </a:xfrm>
          <a:prstGeom prst="rect">
            <a:avLst/>
          </a:prstGeom>
        </p:spPr>
        <p:txBody>
          <a:bodyPr vert="horz" wrap="square" lIns="0" tIns="134615" rIns="0" bIns="0" rtlCol="0">
            <a:spAutoFit/>
          </a:bodyPr>
          <a:lstStyle/>
          <a:p>
            <a:pPr marL="276884" indent="-259950">
              <a:spcBef>
                <a:spcPts val="1060"/>
              </a:spcBef>
              <a:buChar char="•"/>
              <a:tabLst>
                <a:tab pos="277728" algn="l"/>
              </a:tabLst>
            </a:pP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Statistics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27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Mathematical</a:t>
            </a: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approach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80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Geographic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sz="2667" spc="1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6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Spatial</a:t>
            </a:r>
            <a:r>
              <a:rPr sz="2667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80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Physical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chemical</a:t>
            </a:r>
            <a:r>
              <a:rPr sz="2667" spc="6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C783A1-2C43-4CFF-9E69-306159206B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32</a:t>
            </a:fld>
            <a:endParaRPr lang="zh-TW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8" y="297887"/>
            <a:ext cx="4835124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How </a:t>
            </a:r>
            <a:r>
              <a:rPr sz="3600" b="1" spc="-7" dirty="0"/>
              <a:t>to </a:t>
            </a:r>
            <a:r>
              <a:rPr sz="3600" b="1" dirty="0"/>
              <a:t>Analyze</a:t>
            </a:r>
            <a:r>
              <a:rPr sz="3600" b="1" spc="-40" dirty="0"/>
              <a:t> </a:t>
            </a:r>
            <a:r>
              <a:rPr sz="3600" b="1" dirty="0"/>
              <a:t>Data?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74" y="1375568"/>
            <a:ext cx="5227961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76884" indent="-259950">
              <a:spcBef>
                <a:spcPts val="133"/>
              </a:spcBef>
              <a:buChar char="•"/>
              <a:tabLst>
                <a:tab pos="277728" algn="l"/>
              </a:tabLst>
            </a:pP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If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we don’t know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667" spc="1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relationship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0367" y="6544774"/>
            <a:ext cx="2544980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76884" indent="-259950">
              <a:spcBef>
                <a:spcPts val="133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Need</a:t>
            </a:r>
            <a:r>
              <a:rPr sz="2667" spc="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statistics</a:t>
            </a:r>
            <a:endParaRPr sz="2667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20484" y="2086475"/>
            <a:ext cx="10952084" cy="42372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FA1EDB-792E-4135-8370-ACA945EEC4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33</a:t>
            </a:fld>
            <a:endParaRPr lang="zh-TW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8" y="297887"/>
            <a:ext cx="4835124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How </a:t>
            </a:r>
            <a:r>
              <a:rPr sz="3600" b="1" spc="-7" dirty="0"/>
              <a:t>to </a:t>
            </a:r>
            <a:r>
              <a:rPr sz="3600" b="1" dirty="0"/>
              <a:t>Analyze</a:t>
            </a:r>
            <a:r>
              <a:rPr sz="3600" b="1" spc="-40" dirty="0"/>
              <a:t> </a:t>
            </a:r>
            <a:r>
              <a:rPr sz="3600" b="1" dirty="0"/>
              <a:t>Data?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72" y="1375568"/>
            <a:ext cx="6845031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76884" indent="-259950">
              <a:spcBef>
                <a:spcPts val="133"/>
              </a:spcBef>
              <a:buChar char="•"/>
              <a:tabLst>
                <a:tab pos="277728" algn="l"/>
              </a:tabLst>
            </a:pP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If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we have some senses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667" spc="2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relationship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0373" y="6544774"/>
            <a:ext cx="287262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76884" indent="-259950">
              <a:spcBef>
                <a:spcPts val="133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Need more</a:t>
            </a:r>
            <a:r>
              <a:rPr sz="2667" spc="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math</a:t>
            </a:r>
            <a:endParaRPr sz="2667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60675" y="1963746"/>
            <a:ext cx="8306268" cy="45823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9A48C0-C2E3-4A73-B964-D4D92461F6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34</a:t>
            </a:fld>
            <a:endParaRPr lang="zh-TW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8" y="297887"/>
            <a:ext cx="4835124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How </a:t>
            </a:r>
            <a:r>
              <a:rPr sz="3600" b="1" spc="-7" dirty="0"/>
              <a:t>to </a:t>
            </a:r>
            <a:r>
              <a:rPr sz="3600" b="1" dirty="0"/>
              <a:t>Analyze</a:t>
            </a:r>
            <a:r>
              <a:rPr sz="3600" b="1" spc="-40" dirty="0"/>
              <a:t> </a:t>
            </a:r>
            <a:r>
              <a:rPr sz="3600" b="1" dirty="0"/>
              <a:t>Data?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66" y="1375568"/>
            <a:ext cx="4360162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76884" indent="-259950">
              <a:spcBef>
                <a:spcPts val="133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More techniques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667" spc="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help!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3291" y="2255878"/>
            <a:ext cx="11961015" cy="39614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AD5218E-4B58-4D5A-9339-9EFBFC4E15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35</a:t>
            </a:fld>
            <a:endParaRPr lang="zh-TW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4" y="297887"/>
            <a:ext cx="3036874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7" dirty="0"/>
              <a:t>Programming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852393" y="1406581"/>
            <a:ext cx="7722819" cy="57965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6518999" y="7226254"/>
            <a:ext cx="3944465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1333" dirty="0">
                <a:solidFill>
                  <a:srgbClr val="FFFFFF"/>
                </a:solidFill>
                <a:latin typeface="Arial"/>
                <a:cs typeface="Arial"/>
              </a:rPr>
              <a:t>https://</a:t>
            </a:r>
            <a:r>
              <a:rPr sz="1333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www.youtube.com/watch?v=kVOTHKAqgK4</a:t>
            </a:r>
            <a:endParaRPr sz="1333">
              <a:latin typeface="Arial"/>
              <a:cs typeface="Arial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1D22E6-7CF9-4773-83D0-CEF70EEEB5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36</a:t>
            </a:fld>
            <a:endParaRPr lang="zh-TW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3" y="297887"/>
            <a:ext cx="4468529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Physical</a:t>
            </a:r>
            <a:r>
              <a:rPr sz="3600" b="1" spc="67" dirty="0"/>
              <a:t> </a:t>
            </a:r>
            <a:r>
              <a:rPr sz="3600" b="1" dirty="0"/>
              <a:t>Geography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73" y="1257989"/>
            <a:ext cx="2760871" cy="2636935"/>
          </a:xfrm>
          <a:prstGeom prst="rect">
            <a:avLst/>
          </a:prstGeom>
        </p:spPr>
        <p:txBody>
          <a:bodyPr vert="horz" wrap="square" lIns="0" tIns="134615" rIns="0" bIns="0" rtlCol="0">
            <a:spAutoFit/>
          </a:bodyPr>
          <a:lstStyle/>
          <a:p>
            <a:pPr marL="276884" indent="-259950">
              <a:spcBef>
                <a:spcPts val="1060"/>
              </a:spcBef>
              <a:buChar char="•"/>
              <a:tabLst>
                <a:tab pos="277728" algn="l"/>
              </a:tabLst>
            </a:pP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Geomorphology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27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Climatology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80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Hydrology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6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Geology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80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Ecology</a:t>
            </a:r>
            <a:endParaRPr sz="266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51733" y="297887"/>
            <a:ext cx="7664572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-20" dirty="0">
                <a:solidFill>
                  <a:srgbClr val="FFFFFF"/>
                </a:solidFill>
                <a:latin typeface="Arial"/>
                <a:cs typeface="Arial"/>
              </a:rPr>
              <a:t>Techniques </a:t>
            </a:r>
            <a:r>
              <a:rPr sz="3600" b="1" spc="-7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Physical</a:t>
            </a:r>
            <a:r>
              <a:rPr sz="3600" b="1" spc="1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Geography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00890" y="1257993"/>
            <a:ext cx="4263646" cy="4714684"/>
          </a:xfrm>
          <a:prstGeom prst="rect">
            <a:avLst/>
          </a:prstGeom>
        </p:spPr>
        <p:txBody>
          <a:bodyPr vert="horz" wrap="square" lIns="0" tIns="134615" rIns="0" bIns="0" rtlCol="0">
            <a:spAutoFit/>
          </a:bodyPr>
          <a:lstStyle/>
          <a:p>
            <a:pPr marL="276884" indent="-259950">
              <a:spcBef>
                <a:spcPts val="106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Remote</a:t>
            </a:r>
            <a:r>
              <a:rPr sz="2667" spc="-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sensing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27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Geodesy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80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GIS/Cartography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6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Geophysics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800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Geochemistry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27"/>
              </a:spcBef>
              <a:buChar char="•"/>
              <a:tabLst>
                <a:tab pos="277728" algn="l"/>
              </a:tabLst>
            </a:pP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Statistics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793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Calculus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793"/>
              </a:spcBef>
              <a:buChar char="•"/>
              <a:tabLst>
                <a:tab pos="277728" algn="l"/>
              </a:tabLst>
            </a:pPr>
            <a:r>
              <a:rPr sz="2667" spc="20" dirty="0">
                <a:solidFill>
                  <a:srgbClr val="FFFFFF"/>
                </a:solidFill>
                <a:latin typeface="Arial"/>
                <a:cs typeface="Arial"/>
              </a:rPr>
              <a:t>Programming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2667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2667">
              <a:latin typeface="Arial"/>
              <a:cs typeface="Arial"/>
            </a:endParaRPr>
          </a:p>
          <a:p>
            <a:pPr marL="276884" indent="-259950">
              <a:spcBef>
                <a:spcPts val="927"/>
              </a:spcBef>
              <a:buChar char="•"/>
              <a:tabLst>
                <a:tab pos="277728" algn="l"/>
              </a:tabLst>
            </a:pP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sz="2667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endParaRPr sz="2667">
              <a:latin typeface="Arial"/>
              <a:cs typeface="Arial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E16217-10DB-4103-91D9-7349E1FFF6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37</a:t>
            </a:fld>
            <a:endParaRPr lang="zh-TW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6" y="297887"/>
            <a:ext cx="7985446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Course Structure </a:t>
            </a:r>
            <a:r>
              <a:rPr sz="3600" b="1" spc="-7" dirty="0"/>
              <a:t>in </a:t>
            </a:r>
            <a:r>
              <a:rPr sz="3600" b="1" dirty="0"/>
              <a:t>Our</a:t>
            </a:r>
            <a:r>
              <a:rPr sz="3600" b="1" spc="233" dirty="0"/>
              <a:t> </a:t>
            </a:r>
            <a:r>
              <a:rPr sz="3600" b="1" dirty="0"/>
              <a:t>Department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852533" y="1403790"/>
            <a:ext cx="11722536" cy="52953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FB52AB-87DF-461D-A52B-322A2A00CC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38</a:t>
            </a:fld>
            <a:endParaRPr lang="zh-TW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6" y="297887"/>
            <a:ext cx="7985446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Course Structure </a:t>
            </a:r>
            <a:r>
              <a:rPr sz="3600" b="1" spc="-7" dirty="0"/>
              <a:t>in </a:t>
            </a:r>
            <a:r>
              <a:rPr sz="3600" b="1" dirty="0"/>
              <a:t>Our</a:t>
            </a:r>
            <a:r>
              <a:rPr sz="3600" b="1" spc="233" dirty="0"/>
              <a:t> </a:t>
            </a:r>
            <a:r>
              <a:rPr sz="3600" b="1" dirty="0"/>
              <a:t>Department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786943" y="1245131"/>
            <a:ext cx="11853729" cy="58463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1649411" y="2878027"/>
            <a:ext cx="1896459" cy="250603"/>
          </a:xfrm>
          <a:custGeom>
            <a:avLst/>
            <a:gdLst/>
            <a:ahLst/>
            <a:cxnLst/>
            <a:rect l="l" t="t" r="r" b="b"/>
            <a:pathLst>
              <a:path w="1422400" h="187960">
                <a:moveTo>
                  <a:pt x="0" y="0"/>
                </a:moveTo>
                <a:lnTo>
                  <a:pt x="1421949" y="0"/>
                </a:lnTo>
                <a:lnTo>
                  <a:pt x="1421949" y="187745"/>
                </a:lnTo>
                <a:lnTo>
                  <a:pt x="0" y="187745"/>
                </a:lnTo>
                <a:lnTo>
                  <a:pt x="0" y="0"/>
                </a:lnTo>
                <a:close/>
              </a:path>
            </a:pathLst>
          </a:custGeom>
          <a:ln w="3252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4350561" y="2089742"/>
            <a:ext cx="1683107" cy="248910"/>
          </a:xfrm>
          <a:custGeom>
            <a:avLst/>
            <a:gdLst/>
            <a:ahLst/>
            <a:cxnLst/>
            <a:rect l="l" t="t" r="r" b="b"/>
            <a:pathLst>
              <a:path w="1262379" h="186689">
                <a:moveTo>
                  <a:pt x="0" y="0"/>
                </a:moveTo>
                <a:lnTo>
                  <a:pt x="1262310" y="0"/>
                </a:lnTo>
                <a:lnTo>
                  <a:pt x="1262310" y="186098"/>
                </a:lnTo>
                <a:lnTo>
                  <a:pt x="0" y="186098"/>
                </a:lnTo>
                <a:lnTo>
                  <a:pt x="0" y="0"/>
                </a:lnTo>
                <a:close/>
              </a:path>
            </a:pathLst>
          </a:custGeom>
          <a:ln w="3252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4350561" y="4276631"/>
            <a:ext cx="1683107" cy="248910"/>
          </a:xfrm>
          <a:custGeom>
            <a:avLst/>
            <a:gdLst/>
            <a:ahLst/>
            <a:cxnLst/>
            <a:rect l="l" t="t" r="r" b="b"/>
            <a:pathLst>
              <a:path w="1262379" h="186689">
                <a:moveTo>
                  <a:pt x="0" y="0"/>
                </a:moveTo>
                <a:lnTo>
                  <a:pt x="1262310" y="0"/>
                </a:lnTo>
                <a:lnTo>
                  <a:pt x="1262310" y="186098"/>
                </a:lnTo>
                <a:lnTo>
                  <a:pt x="0" y="186098"/>
                </a:lnTo>
                <a:lnTo>
                  <a:pt x="0" y="0"/>
                </a:lnTo>
                <a:close/>
              </a:path>
            </a:pathLst>
          </a:custGeom>
          <a:ln w="3252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7154847" y="2089742"/>
            <a:ext cx="2091184" cy="248910"/>
          </a:xfrm>
          <a:custGeom>
            <a:avLst/>
            <a:gdLst/>
            <a:ahLst/>
            <a:cxnLst/>
            <a:rect l="l" t="t" r="r" b="b"/>
            <a:pathLst>
              <a:path w="1568450" h="186689">
                <a:moveTo>
                  <a:pt x="0" y="0"/>
                </a:moveTo>
                <a:lnTo>
                  <a:pt x="1568423" y="0"/>
                </a:lnTo>
                <a:lnTo>
                  <a:pt x="1568423" y="186098"/>
                </a:lnTo>
                <a:lnTo>
                  <a:pt x="0" y="186098"/>
                </a:lnTo>
                <a:lnTo>
                  <a:pt x="0" y="0"/>
                </a:lnTo>
                <a:close/>
              </a:path>
            </a:pathLst>
          </a:custGeom>
          <a:ln w="3252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700CC795-8D88-4E65-A8B6-7D282AE3AD1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39</a:t>
            </a:fld>
            <a:endParaRPr lang="zh-TW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8" y="297887"/>
            <a:ext cx="6082214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Physical Geography at</a:t>
            </a:r>
            <a:r>
              <a:rPr sz="3600" b="1" spc="120" dirty="0"/>
              <a:t> </a:t>
            </a:r>
            <a:r>
              <a:rPr sz="3600" b="1" dirty="0"/>
              <a:t>NTU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74" y="5520521"/>
            <a:ext cx="9655853" cy="1729058"/>
          </a:xfrm>
          <a:prstGeom prst="rect">
            <a:avLst/>
          </a:prstGeom>
        </p:spPr>
        <p:txBody>
          <a:bodyPr vert="horz" wrap="square" lIns="0" tIns="86355" rIns="0" bIns="0" rtlCol="0">
            <a:spAutoFit/>
          </a:bodyPr>
          <a:lstStyle/>
          <a:p>
            <a:pPr marL="276884" indent="-259950">
              <a:spcBef>
                <a:spcPts val="679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0" dirty="0">
                <a:solidFill>
                  <a:srgbClr val="FFFFFF"/>
                </a:solidFill>
                <a:latin typeface="微軟正黑體"/>
                <a:cs typeface="微軟正黑體"/>
              </a:rPr>
              <a:t>地表作用領</a:t>
            </a:r>
            <a:r>
              <a:rPr sz="2667" spc="-7" dirty="0">
                <a:solidFill>
                  <a:srgbClr val="FFFFFF"/>
                </a:solidFill>
                <a:latin typeface="微軟正黑體"/>
                <a:cs typeface="微軟正黑體"/>
              </a:rPr>
              <a:t>域</a:t>
            </a:r>
            <a:r>
              <a:rPr sz="2667" spc="80" dirty="0">
                <a:solidFill>
                  <a:srgbClr val="FFFFFF"/>
                </a:solidFill>
                <a:latin typeface="微軟正黑體"/>
                <a:cs typeface="微軟正黑體"/>
              </a:rPr>
              <a:t> </a:t>
            </a:r>
            <a:r>
              <a:rPr sz="2667" spc="7" dirty="0">
                <a:solidFill>
                  <a:srgbClr val="FFFFFF"/>
                </a:solidFill>
                <a:latin typeface="Arial"/>
                <a:cs typeface="Arial"/>
              </a:rPr>
              <a:t>(surface</a:t>
            </a:r>
            <a:r>
              <a:rPr sz="2667" spc="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process)</a:t>
            </a:r>
            <a:r>
              <a:rPr sz="2667" spc="13" dirty="0">
                <a:solidFill>
                  <a:srgbClr val="FFFFFF"/>
                </a:solidFill>
                <a:latin typeface="微軟正黑體"/>
                <a:cs typeface="微軟正黑體"/>
              </a:rPr>
              <a:t>：</a:t>
            </a:r>
            <a:endParaRPr sz="2667" dirty="0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407"/>
              </a:spcBef>
              <a:buFont typeface="Arial"/>
              <a:buChar char="•"/>
              <a:tabLst>
                <a:tab pos="796780" algn="l"/>
                <a:tab pos="797625" algn="l"/>
              </a:tabLst>
            </a:pPr>
            <a:r>
              <a:rPr sz="2001" spc="33" dirty="0" err="1">
                <a:solidFill>
                  <a:srgbClr val="FFFFFF"/>
                </a:solidFill>
                <a:latin typeface="微軟正黑體"/>
                <a:cs typeface="微軟正黑體"/>
              </a:rPr>
              <a:t>黃誌川老師、莊振義老師、莊昀叡老師、楊啟見老師</a:t>
            </a:r>
            <a:endParaRPr sz="2001" dirty="0">
              <a:latin typeface="微軟正黑體"/>
              <a:cs typeface="微軟正黑體"/>
            </a:endParaRPr>
          </a:p>
          <a:p>
            <a:pPr marL="276884" indent="-259950">
              <a:spcBef>
                <a:spcPts val="8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0" dirty="0">
                <a:solidFill>
                  <a:srgbClr val="FFFFFF"/>
                </a:solidFill>
                <a:latin typeface="微軟正黑體"/>
                <a:cs typeface="微軟正黑體"/>
              </a:rPr>
              <a:t>生物地球化學領</a:t>
            </a:r>
            <a:r>
              <a:rPr sz="2667" spc="-7" dirty="0">
                <a:solidFill>
                  <a:srgbClr val="FFFFFF"/>
                </a:solidFill>
                <a:latin typeface="微軟正黑體"/>
                <a:cs typeface="微軟正黑體"/>
              </a:rPr>
              <a:t>域</a:t>
            </a:r>
            <a:r>
              <a:rPr sz="2667" spc="133" dirty="0">
                <a:solidFill>
                  <a:srgbClr val="FFFFFF"/>
                </a:solidFill>
                <a:latin typeface="微軟正黑體"/>
                <a:cs typeface="微軟正黑體"/>
              </a:rPr>
              <a:t> </a:t>
            </a:r>
            <a:r>
              <a:rPr sz="2667" spc="13" dirty="0">
                <a:solidFill>
                  <a:srgbClr val="FFFFFF"/>
                </a:solidFill>
                <a:latin typeface="Arial"/>
                <a:cs typeface="Arial"/>
              </a:rPr>
              <a:t>(biogeochemistry)</a:t>
            </a:r>
            <a:r>
              <a:rPr sz="2667" spc="13" dirty="0">
                <a:solidFill>
                  <a:srgbClr val="FFFFFF"/>
                </a:solidFill>
                <a:latin typeface="微軟正黑體"/>
                <a:cs typeface="微軟正黑體"/>
              </a:rPr>
              <a:t>：</a:t>
            </a:r>
            <a:endParaRPr sz="2667" dirty="0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407"/>
              </a:spcBef>
              <a:buFont typeface="Arial"/>
              <a:buChar char="•"/>
              <a:tabLst>
                <a:tab pos="796780" algn="l"/>
                <a:tab pos="797625" algn="l"/>
              </a:tabLst>
            </a:pPr>
            <a:r>
              <a:rPr sz="2001" spc="33" dirty="0">
                <a:solidFill>
                  <a:srgbClr val="FFFFFF"/>
                </a:solidFill>
                <a:latin typeface="微軟正黑體"/>
                <a:cs typeface="微軟正黑體"/>
              </a:rPr>
              <a:t>李美慧老師、黃倬英老師、黃誌川老師、莊振義老師、翁葳老師、楊啟見老師</a:t>
            </a:r>
            <a:endParaRPr sz="2001" dirty="0">
              <a:latin typeface="微軟正黑體"/>
              <a:cs typeface="微軟正黑體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47325" y="1301093"/>
            <a:ext cx="1393489" cy="1673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4666355" y="2996418"/>
            <a:ext cx="1334294" cy="3250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2001" spc="40" dirty="0">
                <a:solidFill>
                  <a:srgbClr val="FFFFFF"/>
                </a:solidFill>
                <a:latin typeface="微軟正黑體"/>
                <a:cs typeface="微軟正黑體"/>
              </a:rPr>
              <a:t>莊振義老師</a:t>
            </a:r>
            <a:endParaRPr sz="2001">
              <a:latin typeface="微軟正黑體"/>
              <a:cs typeface="微軟正黑體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45841" y="1301093"/>
            <a:ext cx="1393489" cy="16733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7564872" y="2988292"/>
            <a:ext cx="1334294" cy="3250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2001" spc="40" dirty="0">
                <a:solidFill>
                  <a:srgbClr val="FFFFFF"/>
                </a:solidFill>
                <a:latin typeface="微軟正黑體"/>
                <a:cs typeface="微軟正黑體"/>
              </a:rPr>
              <a:t>黃倬英老師</a:t>
            </a:r>
            <a:endParaRPr sz="2001">
              <a:latin typeface="微軟正黑體"/>
              <a:cs typeface="微軟正黑體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87657" y="3533815"/>
            <a:ext cx="1366280" cy="16772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1803189" y="1309572"/>
            <a:ext cx="1365624" cy="16733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 txBox="1"/>
          <p:nvPr/>
        </p:nvSpPr>
        <p:spPr>
          <a:xfrm>
            <a:off x="1811663" y="3011684"/>
            <a:ext cx="4220467" cy="3250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  <a:tabLst>
                <a:tab pos="2903461" algn="l"/>
              </a:tabLst>
            </a:pPr>
            <a:r>
              <a:rPr sz="2001" spc="40" dirty="0">
                <a:solidFill>
                  <a:srgbClr val="FFFFFF"/>
                </a:solidFill>
                <a:latin typeface="微軟正黑體"/>
                <a:cs typeface="微軟正黑體"/>
              </a:rPr>
              <a:t>李美慧老</a:t>
            </a:r>
            <a:r>
              <a:rPr sz="2001" dirty="0">
                <a:solidFill>
                  <a:srgbClr val="FFFFFF"/>
                </a:solidFill>
                <a:latin typeface="微軟正黑體"/>
                <a:cs typeface="微軟正黑體"/>
              </a:rPr>
              <a:t>師	</a:t>
            </a:r>
            <a:endParaRPr sz="2001" dirty="0">
              <a:latin typeface="微軟正黑體"/>
              <a:cs typeface="微軟正黑體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25769" y="2996418"/>
            <a:ext cx="1334294" cy="3250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2001" spc="40" dirty="0">
                <a:solidFill>
                  <a:srgbClr val="FFFFFF"/>
                </a:solidFill>
                <a:latin typeface="微軟正黑體"/>
                <a:cs typeface="微軟正黑體"/>
              </a:rPr>
              <a:t>莊昀叡老師</a:t>
            </a:r>
            <a:endParaRPr sz="2001">
              <a:latin typeface="微軟正黑體"/>
              <a:cs typeface="微軟正黑體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505959" y="1309569"/>
            <a:ext cx="1392543" cy="16838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6086780" y="5311127"/>
            <a:ext cx="1204759" cy="3250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2001" spc="-7" dirty="0">
                <a:solidFill>
                  <a:srgbClr val="FFFFFF"/>
                </a:solidFill>
                <a:latin typeface="微軟正黑體"/>
                <a:cs typeface="微軟正黑體"/>
              </a:rPr>
              <a:t>翁</a:t>
            </a:r>
            <a:r>
              <a:rPr sz="2001" spc="467" dirty="0">
                <a:solidFill>
                  <a:srgbClr val="FFFFFF"/>
                </a:solidFill>
                <a:latin typeface="微軟正黑體"/>
                <a:cs typeface="微軟正黑體"/>
              </a:rPr>
              <a:t> </a:t>
            </a:r>
            <a:r>
              <a:rPr sz="2001" spc="33" dirty="0">
                <a:solidFill>
                  <a:srgbClr val="FFFFFF"/>
                </a:solidFill>
                <a:latin typeface="微軟正黑體"/>
                <a:cs typeface="微軟正黑體"/>
              </a:rPr>
              <a:t>葳老師</a:t>
            </a:r>
            <a:endParaRPr sz="2001" dirty="0">
              <a:latin typeface="微軟正黑體"/>
              <a:cs typeface="微軟正黑體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66896" y="3533809"/>
            <a:ext cx="1393506" cy="167333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8941383" y="3535483"/>
            <a:ext cx="1392543" cy="16838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/>
          <p:nvPr/>
        </p:nvSpPr>
        <p:spPr>
          <a:xfrm>
            <a:off x="9062877" y="5291569"/>
            <a:ext cx="1334294" cy="32500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2001" spc="33" dirty="0">
                <a:solidFill>
                  <a:srgbClr val="FFFFFF"/>
                </a:solidFill>
                <a:latin typeface="微軟正黑體"/>
                <a:cs typeface="微軟正黑體"/>
              </a:rPr>
              <a:t>楊啟見老師</a:t>
            </a:r>
            <a:endParaRPr sz="2001" dirty="0">
              <a:latin typeface="微軟正黑體"/>
              <a:cs typeface="微軟正黑體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0831530-B46A-4643-92E8-9D78F3DFA081}"/>
              </a:ext>
            </a:extLst>
          </p:cNvPr>
          <p:cNvSpPr txBox="1"/>
          <p:nvPr/>
        </p:nvSpPr>
        <p:spPr>
          <a:xfrm>
            <a:off x="2968319" y="5158202"/>
            <a:ext cx="1925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spc="40" dirty="0">
                <a:solidFill>
                  <a:srgbClr val="FFFFFF"/>
                </a:solidFill>
                <a:latin typeface="微軟正黑體"/>
                <a:cs typeface="微軟正黑體"/>
              </a:rPr>
              <a:t>黃誌川老師</a:t>
            </a:r>
            <a:endParaRPr lang="zh-TW" altLang="en-US" sz="2400" dirty="0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9FE3F8EF-F17D-466F-A22E-B43F0BBFE0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40</a:t>
            </a:fld>
            <a:endParaRPr lang="zh-TW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4" y="318207"/>
            <a:ext cx="6159258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33" dirty="0">
                <a:latin typeface="微軟正黑體"/>
                <a:cs typeface="微軟正黑體"/>
              </a:rPr>
              <a:t>李美慧老</a:t>
            </a:r>
            <a:r>
              <a:rPr sz="3600" b="1" dirty="0">
                <a:latin typeface="微軟正黑體"/>
                <a:cs typeface="微軟正黑體"/>
              </a:rPr>
              <a:t>師</a:t>
            </a:r>
            <a:r>
              <a:rPr sz="3600" b="1" spc="-93" dirty="0">
                <a:latin typeface="微軟正黑體"/>
                <a:cs typeface="微軟正黑體"/>
              </a:rPr>
              <a:t> </a:t>
            </a:r>
            <a:r>
              <a:rPr sz="3600" b="1" spc="33" dirty="0">
                <a:latin typeface="微軟正黑體"/>
                <a:cs typeface="微軟正黑體"/>
              </a:rPr>
              <a:t>－環境生態研究室</a:t>
            </a:r>
            <a:endParaRPr sz="3600">
              <a:latin typeface="微軟正黑體"/>
              <a:cs typeface="微軟正黑體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373" y="1332342"/>
            <a:ext cx="3680315" cy="4642935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研究議題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環境生態與污染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生物監測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人體健康與環境</a:t>
            </a:r>
            <a:endParaRPr sz="2267">
              <a:latin typeface="微軟正黑體"/>
              <a:cs typeface="微軟正黑體"/>
            </a:endParaRPr>
          </a:p>
          <a:p>
            <a:pPr lvl="1">
              <a:spcBef>
                <a:spcPts val="40"/>
              </a:spcBef>
              <a:buClr>
                <a:srgbClr val="FFFFFF"/>
              </a:buClr>
              <a:buFont typeface="Arial"/>
              <a:buChar char="•"/>
            </a:pPr>
            <a:endParaRPr sz="4200">
              <a:latin typeface="Times New Roman"/>
              <a:cs typeface="Times New Roman"/>
            </a:endParaRPr>
          </a:p>
          <a:p>
            <a:pPr marL="276884" indent="-259950">
              <a:spcBef>
                <a:spcPts val="7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建議修課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72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普通生物學乙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53"/>
              </a:spcBef>
              <a:buFont typeface="Arial"/>
              <a:buChar char="•"/>
              <a:tabLst>
                <a:tab pos="797625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普通化學丙 </a:t>
            </a: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/</a:t>
            </a: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 環境化學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1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環境生態學</a:t>
            </a:r>
            <a:r>
              <a:rPr sz="2267" spc="-13" dirty="0">
                <a:solidFill>
                  <a:srgbClr val="FFFFFF"/>
                </a:solidFill>
                <a:latin typeface="微軟正黑體"/>
                <a:cs typeface="微軟正黑體"/>
              </a:rPr>
              <a:t> </a:t>
            </a: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/</a:t>
            </a:r>
            <a:r>
              <a:rPr sz="2267" spc="-13" dirty="0">
                <a:solidFill>
                  <a:srgbClr val="FFFFFF"/>
                </a:solidFill>
                <a:latin typeface="微軟正黑體"/>
                <a:cs typeface="微軟正黑體"/>
              </a:rPr>
              <a:t> </a:t>
            </a: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生態學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5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都市生態與環境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多變量分析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00893" y="1332344"/>
            <a:ext cx="3414472" cy="1649423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教學課程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環境生態學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環境變遷中生態議題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都市生態與環境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0AE1FFA-E42B-47E3-A725-475E5497EA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41</a:t>
            </a:fld>
            <a:endParaRPr lang="zh-TW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3" y="318207"/>
            <a:ext cx="5349876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33" dirty="0">
                <a:latin typeface="微軟正黑體"/>
                <a:cs typeface="微軟正黑體"/>
              </a:rPr>
              <a:t>黃誌川老</a:t>
            </a:r>
            <a:r>
              <a:rPr sz="3600" b="1" dirty="0">
                <a:latin typeface="微軟正黑體"/>
                <a:cs typeface="微軟正黑體"/>
              </a:rPr>
              <a:t>師</a:t>
            </a:r>
            <a:r>
              <a:rPr sz="3600" b="1" spc="-27" dirty="0">
                <a:latin typeface="微軟正黑體"/>
                <a:cs typeface="微軟正黑體"/>
              </a:rPr>
              <a:t> </a:t>
            </a:r>
            <a:r>
              <a:rPr sz="3600" b="1" dirty="0">
                <a:latin typeface="微軟正黑體"/>
                <a:cs typeface="微軟正黑體"/>
              </a:rPr>
              <a:t>－</a:t>
            </a:r>
            <a:r>
              <a:rPr sz="3600" b="1" spc="-27" dirty="0">
                <a:latin typeface="微軟正黑體"/>
                <a:cs typeface="微軟正黑體"/>
              </a:rPr>
              <a:t> </a:t>
            </a:r>
            <a:r>
              <a:rPr sz="3600" b="1" spc="33" dirty="0">
                <a:latin typeface="微軟正黑體"/>
                <a:cs typeface="微軟正黑體"/>
              </a:rPr>
              <a:t>水文研究室</a:t>
            </a:r>
            <a:endParaRPr sz="3600">
              <a:latin typeface="微軟正黑體"/>
              <a:cs typeface="微軟正黑體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368" y="1332341"/>
            <a:ext cx="3125770" cy="4642935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研究議題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水文作用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生物地球化學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集水區水文模擬</a:t>
            </a:r>
            <a:endParaRPr sz="2267">
              <a:latin typeface="微軟正黑體"/>
              <a:cs typeface="微軟正黑體"/>
            </a:endParaRPr>
          </a:p>
          <a:p>
            <a:pPr lvl="1">
              <a:spcBef>
                <a:spcPts val="40"/>
              </a:spcBef>
              <a:buClr>
                <a:srgbClr val="FFFFFF"/>
              </a:buClr>
              <a:buFont typeface="Arial"/>
              <a:buChar char="•"/>
            </a:pPr>
            <a:endParaRPr sz="4200">
              <a:latin typeface="Times New Roman"/>
              <a:cs typeface="Times New Roman"/>
            </a:endParaRPr>
          </a:p>
          <a:p>
            <a:pPr marL="276884" indent="-259950">
              <a:spcBef>
                <a:spcPts val="7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建議修課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72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水文學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5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環境水文學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1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坡地水文學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5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生物地球化學導論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水質分析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00890" y="1332344"/>
            <a:ext cx="3125770" cy="1649423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教學課程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環境水文學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自然地理調查方法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降雨逕流歷程模擬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9C9311-1CA2-4B45-B8B8-D8FA9AA93C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42</a:t>
            </a:fld>
            <a:endParaRPr lang="zh-TW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9" y="318207"/>
            <a:ext cx="7661184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33" dirty="0">
                <a:latin typeface="微軟正黑體"/>
                <a:cs typeface="微軟正黑體"/>
              </a:rPr>
              <a:t>黃倬英老</a:t>
            </a:r>
            <a:r>
              <a:rPr sz="3600" b="1" dirty="0">
                <a:latin typeface="微軟正黑體"/>
                <a:cs typeface="微軟正黑體"/>
              </a:rPr>
              <a:t>師</a:t>
            </a:r>
            <a:r>
              <a:rPr sz="3600" b="1" spc="-27" dirty="0">
                <a:latin typeface="微軟正黑體"/>
                <a:cs typeface="微軟正黑體"/>
              </a:rPr>
              <a:t> </a:t>
            </a:r>
            <a:r>
              <a:rPr sz="3600" b="1" dirty="0">
                <a:latin typeface="微軟正黑體"/>
                <a:cs typeface="微軟正黑體"/>
              </a:rPr>
              <a:t>－</a:t>
            </a:r>
            <a:r>
              <a:rPr sz="3600" b="1" spc="-27" dirty="0">
                <a:latin typeface="微軟正黑體"/>
                <a:cs typeface="微軟正黑體"/>
              </a:rPr>
              <a:t> </a:t>
            </a:r>
            <a:r>
              <a:rPr sz="3600" b="1" spc="33" dirty="0">
                <a:latin typeface="微軟正黑體"/>
                <a:cs typeface="微軟正黑體"/>
              </a:rPr>
              <a:t>生態系統生態學實驗室</a:t>
            </a:r>
            <a:endParaRPr sz="3600">
              <a:latin typeface="微軟正黑體"/>
              <a:cs typeface="微軟正黑體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372" y="1332341"/>
            <a:ext cx="3390767" cy="4642935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研究議題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生態系統生態學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生物地球化學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環境遙測</a:t>
            </a:r>
            <a:endParaRPr sz="2267">
              <a:latin typeface="微軟正黑體"/>
              <a:cs typeface="微軟正黑體"/>
            </a:endParaRPr>
          </a:p>
          <a:p>
            <a:pPr lvl="1">
              <a:spcBef>
                <a:spcPts val="40"/>
              </a:spcBef>
              <a:buClr>
                <a:srgbClr val="FFFFFF"/>
              </a:buClr>
              <a:buFont typeface="Arial"/>
              <a:buChar char="•"/>
            </a:pPr>
            <a:endParaRPr sz="4200">
              <a:latin typeface="Times New Roman"/>
              <a:cs typeface="Times New Roman"/>
            </a:endParaRPr>
          </a:p>
          <a:p>
            <a:pPr marL="276884" indent="-259950">
              <a:spcBef>
                <a:spcPts val="7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建議修課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72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環境水文學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5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生態學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1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生物地球化學導論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5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植物生理學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線性代數</a:t>
            </a:r>
            <a:r>
              <a:rPr sz="2267" spc="-40" dirty="0">
                <a:solidFill>
                  <a:srgbClr val="FFFFFF"/>
                </a:solidFill>
                <a:latin typeface="微軟正黑體"/>
                <a:cs typeface="微軟正黑體"/>
              </a:rPr>
              <a:t> </a:t>
            </a: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/</a:t>
            </a:r>
            <a:r>
              <a:rPr sz="2267" spc="-40" dirty="0">
                <a:solidFill>
                  <a:srgbClr val="FFFFFF"/>
                </a:solidFill>
                <a:latin typeface="微軟正黑體"/>
                <a:cs typeface="微軟正黑體"/>
              </a:rPr>
              <a:t> </a:t>
            </a: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微分方程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00893" y="1332344"/>
            <a:ext cx="2837068" cy="2023949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教學課程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自然地理學通論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遙測學原理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台灣霧林探索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18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環境遙測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59FEC33-3D18-4C60-AFA0-F533822487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43</a:t>
            </a:fld>
            <a:endParaRPr lang="zh-TW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4" y="318207"/>
            <a:ext cx="8123447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33" dirty="0">
                <a:latin typeface="微軟正黑體"/>
                <a:cs typeface="微軟正黑體"/>
              </a:rPr>
              <a:t>莊振義老</a:t>
            </a:r>
            <a:r>
              <a:rPr sz="3600" b="1" dirty="0">
                <a:latin typeface="微軟正黑體"/>
                <a:cs typeface="微軟正黑體"/>
              </a:rPr>
              <a:t>師</a:t>
            </a:r>
            <a:r>
              <a:rPr sz="3600" b="1" spc="-27" dirty="0">
                <a:latin typeface="微軟正黑體"/>
                <a:cs typeface="微軟正黑體"/>
              </a:rPr>
              <a:t> </a:t>
            </a:r>
            <a:r>
              <a:rPr sz="3600" b="1" dirty="0">
                <a:latin typeface="微軟正黑體"/>
                <a:cs typeface="微軟正黑體"/>
              </a:rPr>
              <a:t>－</a:t>
            </a:r>
            <a:r>
              <a:rPr sz="3600" b="1" spc="-27" dirty="0">
                <a:latin typeface="微軟正黑體"/>
                <a:cs typeface="微軟正黑體"/>
              </a:rPr>
              <a:t> </a:t>
            </a:r>
            <a:r>
              <a:rPr sz="3600" b="1" spc="33" dirty="0">
                <a:latin typeface="微軟正黑體"/>
                <a:cs typeface="微軟正黑體"/>
              </a:rPr>
              <a:t>地表大氣交互作用研究室</a:t>
            </a:r>
            <a:endParaRPr sz="3600">
              <a:latin typeface="微軟正黑體"/>
              <a:cs typeface="微軟正黑體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368" y="1332341"/>
            <a:ext cx="3703174" cy="4642935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研究議題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地表與大氣交互作用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土地利用變遷與氣候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水文氣象學與微氣象學</a:t>
            </a:r>
            <a:endParaRPr sz="2267">
              <a:latin typeface="微軟正黑體"/>
              <a:cs typeface="微軟正黑體"/>
            </a:endParaRPr>
          </a:p>
          <a:p>
            <a:pPr lvl="1">
              <a:spcBef>
                <a:spcPts val="40"/>
              </a:spcBef>
              <a:buClr>
                <a:srgbClr val="FFFFFF"/>
              </a:buClr>
              <a:buFont typeface="Arial"/>
              <a:buChar char="•"/>
            </a:pPr>
            <a:endParaRPr sz="4200">
              <a:latin typeface="Times New Roman"/>
              <a:cs typeface="Times New Roman"/>
            </a:endParaRPr>
          </a:p>
          <a:p>
            <a:pPr marL="276884" indent="-259950">
              <a:spcBef>
                <a:spcPts val="7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建議修課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72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環境水文學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5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大氣與生物圈交互作用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1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自然地理基本力學原理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5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近地表微氣象學導論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都市微氣候專題討論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00888" y="1332343"/>
            <a:ext cx="3992723" cy="2785824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教學課程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自然地理學通論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氣候學及實習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大氣與生物圈交互作用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18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近地表微氣象學導論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都市微氣候專題討論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自然地理學基本力學原理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CBB252F-7DC8-4485-A76D-8FA9AACCD9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44</a:t>
            </a:fld>
            <a:endParaRPr lang="zh-TW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73" y="318207"/>
            <a:ext cx="5696996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33" dirty="0">
                <a:latin typeface="微軟正黑體"/>
                <a:cs typeface="微軟正黑體"/>
              </a:rPr>
              <a:t>翁葳老</a:t>
            </a:r>
            <a:r>
              <a:rPr sz="3600" b="1" dirty="0">
                <a:latin typeface="微軟正黑體"/>
                <a:cs typeface="微軟正黑體"/>
              </a:rPr>
              <a:t>師</a:t>
            </a:r>
            <a:r>
              <a:rPr sz="3600" b="1" spc="-93" dirty="0">
                <a:latin typeface="微軟正黑體"/>
                <a:cs typeface="微軟正黑體"/>
              </a:rPr>
              <a:t> </a:t>
            </a:r>
            <a:r>
              <a:rPr sz="3600" b="1" spc="33" dirty="0">
                <a:latin typeface="微軟正黑體"/>
                <a:cs typeface="微軟正黑體"/>
              </a:rPr>
              <a:t>－翁葳老師研究室</a:t>
            </a:r>
            <a:endParaRPr sz="3600">
              <a:latin typeface="微軟正黑體"/>
              <a:cs typeface="微軟正黑體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373" y="1332346"/>
            <a:ext cx="4858829" cy="5015088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研究議題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拉丁美洲環境變遷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土地與水科學、政策與經營管理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極端事件社會轉型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18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社會生態系統</a:t>
            </a:r>
            <a:endParaRPr sz="2267">
              <a:latin typeface="微軟正黑體"/>
              <a:cs typeface="微軟正黑體"/>
            </a:endParaRPr>
          </a:p>
          <a:p>
            <a:pPr lvl="1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endParaRPr sz="4268">
              <a:latin typeface="Times New Roman"/>
              <a:cs typeface="Times New Roman"/>
            </a:endParaRPr>
          </a:p>
          <a:p>
            <a:pPr marL="276884" indent="-259950"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建議修課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都市社會生態系統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187"/>
              </a:spcBef>
              <a:buFont typeface="Arial"/>
              <a:buChar char="•"/>
              <a:tabLst>
                <a:tab pos="797625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人為氣候變遷下的水文循環變化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氣候服務與環境永續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區域地理學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環境資源保育及經理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00889" y="1332343"/>
            <a:ext cx="3447491" cy="2398474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教學課程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區域地理學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亞馬遜環境變遷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耦合地水系統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18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飛河作用及管理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ESG</a:t>
            </a: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簡介與實務訓練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0B55695-8CDC-450F-A21B-C4E1AB871D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45</a:t>
            </a:fld>
            <a:endParaRPr lang="zh-TW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9" y="318207"/>
            <a:ext cx="7661184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33" dirty="0">
                <a:latin typeface="微軟正黑體"/>
                <a:cs typeface="微軟正黑體"/>
              </a:rPr>
              <a:t>楊啟見老</a:t>
            </a:r>
            <a:r>
              <a:rPr sz="3600" b="1" dirty="0">
                <a:latin typeface="微軟正黑體"/>
                <a:cs typeface="微軟正黑體"/>
              </a:rPr>
              <a:t>師</a:t>
            </a:r>
            <a:r>
              <a:rPr sz="3600" b="1" spc="-27" dirty="0">
                <a:latin typeface="微軟正黑體"/>
                <a:cs typeface="微軟正黑體"/>
              </a:rPr>
              <a:t> </a:t>
            </a:r>
            <a:r>
              <a:rPr sz="3600" b="1" dirty="0">
                <a:latin typeface="微軟正黑體"/>
                <a:cs typeface="微軟正黑體"/>
              </a:rPr>
              <a:t>－</a:t>
            </a:r>
            <a:r>
              <a:rPr sz="3600" b="1" spc="-27" dirty="0">
                <a:latin typeface="微軟正黑體"/>
                <a:cs typeface="微軟正黑體"/>
              </a:rPr>
              <a:t> </a:t>
            </a:r>
            <a:r>
              <a:rPr sz="3600" b="1" spc="33" dirty="0" err="1">
                <a:latin typeface="微軟正黑體"/>
                <a:cs typeface="微軟正黑體"/>
              </a:rPr>
              <a:t>地表作用與地</a:t>
            </a:r>
            <a:r>
              <a:rPr lang="zh-TW" altLang="en-US" sz="3600" b="1" spc="33" dirty="0">
                <a:latin typeface="微軟正黑體"/>
              </a:rPr>
              <a:t>形</a:t>
            </a:r>
            <a:r>
              <a:rPr sz="3600" b="1" spc="33" dirty="0" err="1">
                <a:latin typeface="微軟正黑體"/>
                <a:cs typeface="微軟正黑體"/>
              </a:rPr>
              <a:t>研究室</a:t>
            </a:r>
            <a:endParaRPr sz="3600" dirty="0">
              <a:latin typeface="微軟正黑體"/>
              <a:cs typeface="微軟正黑體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373" y="1332340"/>
            <a:ext cx="3414472" cy="3480886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研究議題</a:t>
            </a:r>
            <a:endParaRPr sz="2667" dirty="0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 err="1">
                <a:solidFill>
                  <a:srgbClr val="FFFFFF"/>
                </a:solidFill>
                <a:latin typeface="微軟正黑體"/>
                <a:cs typeface="微軟正黑體"/>
              </a:rPr>
              <a:t>地形</a:t>
            </a:r>
            <a:r>
              <a:rPr lang="zh-TW" altLang="en-US" sz="2267" dirty="0">
                <a:solidFill>
                  <a:srgbClr val="FFFFFF"/>
                </a:solidFill>
                <a:latin typeface="微軟正黑體"/>
                <a:cs typeface="微軟正黑體"/>
              </a:rPr>
              <a:t>演育</a:t>
            </a:r>
            <a:endParaRPr sz="2267" dirty="0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 err="1">
                <a:solidFill>
                  <a:srgbClr val="FFFFFF"/>
                </a:solidFill>
                <a:latin typeface="微軟正黑體"/>
                <a:cs typeface="微軟正黑體"/>
              </a:rPr>
              <a:t>地表作用</a:t>
            </a:r>
            <a:endParaRPr sz="2267" dirty="0">
              <a:latin typeface="微軟正黑體"/>
              <a:cs typeface="微軟正黑體"/>
            </a:endParaRPr>
          </a:p>
          <a:p>
            <a:pPr lvl="1">
              <a:spcBef>
                <a:spcPts val="40"/>
              </a:spcBef>
              <a:buClr>
                <a:srgbClr val="FFFFFF"/>
              </a:buClr>
              <a:buFont typeface="Arial"/>
              <a:buChar char="•"/>
            </a:pPr>
            <a:endParaRPr sz="4200" dirty="0">
              <a:latin typeface="Times New Roman"/>
              <a:cs typeface="Times New Roman"/>
            </a:endParaRPr>
          </a:p>
          <a:p>
            <a:pPr marL="276884" indent="-259950">
              <a:spcBef>
                <a:spcPts val="7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建議修課</a:t>
            </a:r>
            <a:endParaRPr sz="2667" dirty="0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72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集水區地形學</a:t>
            </a:r>
            <a:endParaRPr sz="2267" dirty="0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5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數值地形分析</a:t>
            </a:r>
            <a:endParaRPr sz="2267" dirty="0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1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野外地形學</a:t>
            </a:r>
            <a:endParaRPr sz="2267" dirty="0">
              <a:latin typeface="微軟正黑體"/>
              <a:cs typeface="微軟正黑體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00887" y="1332344"/>
            <a:ext cx="5712582" cy="3288590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教學課程</a:t>
            </a:r>
            <a:endParaRPr sz="2667" dirty="0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lang="zh-TW" altLang="en-US" sz="2267" dirty="0">
                <a:solidFill>
                  <a:srgbClr val="FFFFFF"/>
                </a:solidFill>
                <a:latin typeface="微軟正黑體"/>
                <a:cs typeface="微軟正黑體"/>
              </a:rPr>
              <a:t>自然地理學通論</a:t>
            </a: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lang="zh-TW" altLang="en-US" sz="2267" dirty="0">
                <a:solidFill>
                  <a:srgbClr val="FFFFFF"/>
                </a:solidFill>
                <a:latin typeface="微軟正黑體"/>
                <a:cs typeface="微軟正黑體"/>
              </a:rPr>
              <a:t>地形學及實習</a:t>
            </a: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lang="zh-TW" altLang="en-US" sz="2267" dirty="0">
                <a:solidFill>
                  <a:srgbClr val="FFFFFF"/>
                </a:solidFill>
                <a:latin typeface="微軟正黑體"/>
                <a:cs typeface="微軟正黑體"/>
              </a:rPr>
              <a:t>集水區地形學</a:t>
            </a: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lang="zh-TW" altLang="en-US" sz="2267" dirty="0">
                <a:solidFill>
                  <a:srgbClr val="FFFFFF"/>
                </a:solidFill>
                <a:latin typeface="微軟正黑體"/>
                <a:cs typeface="微軟正黑體"/>
              </a:rPr>
              <a:t>野外地形學</a:t>
            </a: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lang="zh-TW" altLang="en-US" sz="2267" dirty="0">
                <a:solidFill>
                  <a:srgbClr val="FFFFFF"/>
                </a:solidFill>
                <a:latin typeface="微軟正黑體"/>
                <a:cs typeface="微軟正黑體"/>
              </a:rPr>
              <a:t>數值地形分析與水文分析</a:t>
            </a: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lang="zh-TW" altLang="en-US" sz="2267" dirty="0">
                <a:solidFill>
                  <a:srgbClr val="FFFFFF"/>
                </a:solidFill>
                <a:latin typeface="微軟正黑體"/>
                <a:cs typeface="微軟正黑體"/>
              </a:rPr>
              <a:t>程式設計 </a:t>
            </a:r>
            <a:r>
              <a:rPr lang="en-US" altLang="zh-TW" sz="2267" dirty="0">
                <a:solidFill>
                  <a:srgbClr val="FFFFFF"/>
                </a:solidFill>
                <a:latin typeface="微軟正黑體"/>
                <a:cs typeface="微軟正黑體"/>
              </a:rPr>
              <a:t>(</a:t>
            </a:r>
            <a:r>
              <a:rPr lang="zh-TW" altLang="en-US" sz="2267" dirty="0">
                <a:solidFill>
                  <a:srgbClr val="FFFFFF"/>
                </a:solidFill>
                <a:latin typeface="微軟正黑體"/>
                <a:cs typeface="微軟正黑體"/>
              </a:rPr>
              <a:t>英文授課</a:t>
            </a:r>
            <a:r>
              <a:rPr lang="en-US" altLang="zh-TW" sz="2267" dirty="0">
                <a:solidFill>
                  <a:srgbClr val="FFFFFF"/>
                </a:solidFill>
                <a:latin typeface="微軟正黑體"/>
                <a:cs typeface="微軟正黑體"/>
              </a:rPr>
              <a:t>)</a:t>
            </a: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lang="zh-TW" altLang="en-US" sz="2267" dirty="0">
                <a:solidFill>
                  <a:srgbClr val="FFFFFF"/>
                </a:solidFill>
                <a:latin typeface="微軟正黑體"/>
                <a:cs typeface="微軟正黑體"/>
              </a:rPr>
              <a:t>地表作用與演育</a:t>
            </a:r>
            <a:endParaRPr sz="2267" dirty="0">
              <a:latin typeface="微軟正黑體"/>
              <a:cs typeface="微軟正黑體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C77508-D8B5-4D93-851C-CC7AA14284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46</a:t>
            </a:fld>
            <a:endParaRPr lang="zh-TW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9" y="318207"/>
            <a:ext cx="7661184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33" dirty="0">
                <a:latin typeface="微軟正黑體"/>
                <a:cs typeface="微軟正黑體"/>
              </a:rPr>
              <a:t>莊昀叡老</a:t>
            </a:r>
            <a:r>
              <a:rPr sz="3600" b="1" dirty="0">
                <a:latin typeface="微軟正黑體"/>
                <a:cs typeface="微軟正黑體"/>
              </a:rPr>
              <a:t>師</a:t>
            </a:r>
            <a:r>
              <a:rPr sz="3600" b="1" spc="-27" dirty="0">
                <a:latin typeface="微軟正黑體"/>
                <a:cs typeface="微軟正黑體"/>
              </a:rPr>
              <a:t> </a:t>
            </a:r>
            <a:r>
              <a:rPr sz="3600" b="1" dirty="0">
                <a:latin typeface="微軟正黑體"/>
                <a:cs typeface="微軟正黑體"/>
              </a:rPr>
              <a:t>－</a:t>
            </a:r>
            <a:r>
              <a:rPr sz="3600" b="1" spc="-27" dirty="0">
                <a:latin typeface="微軟正黑體"/>
                <a:cs typeface="微軟正黑體"/>
              </a:rPr>
              <a:t> </a:t>
            </a:r>
            <a:r>
              <a:rPr sz="3600" b="1" spc="33" dirty="0">
                <a:latin typeface="微軟正黑體"/>
                <a:cs typeface="微軟正黑體"/>
              </a:rPr>
              <a:t>地表與地殼作用研究室</a:t>
            </a:r>
            <a:endParaRPr sz="3600">
              <a:latin typeface="微軟正黑體"/>
              <a:cs typeface="微軟正黑體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368" y="1332346"/>
            <a:ext cx="3703174" cy="4627739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研究議題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自然災害與地形變遷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遙測與測地應用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地震災害評估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18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國土監測</a:t>
            </a:r>
            <a:endParaRPr sz="2267">
              <a:latin typeface="微軟正黑體"/>
              <a:cs typeface="微軟正黑體"/>
            </a:endParaRPr>
          </a:p>
          <a:p>
            <a:pPr lvl="1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endParaRPr sz="4268">
              <a:latin typeface="Times New Roman"/>
              <a:cs typeface="Times New Roman"/>
            </a:endParaRPr>
          </a:p>
          <a:p>
            <a:pPr marL="276884" indent="-259950"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建議修課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普通地質學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18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地球物理原理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自然地理基本力學原理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線性代數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00888" y="1332341"/>
            <a:ext cx="3992723" cy="3560523"/>
          </a:xfrm>
          <a:prstGeom prst="rect">
            <a:avLst/>
          </a:prstGeom>
        </p:spPr>
        <p:txBody>
          <a:bodyPr vert="horz" wrap="square" lIns="0" tIns="76197" rIns="0" bIns="0" rtlCol="0">
            <a:spAutoFit/>
          </a:bodyPr>
          <a:lstStyle/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667" spc="47" dirty="0">
                <a:solidFill>
                  <a:srgbClr val="FFFFFF"/>
                </a:solidFill>
                <a:latin typeface="微軟正黑體"/>
                <a:cs typeface="微軟正黑體"/>
              </a:rPr>
              <a:t>教學課程</a:t>
            </a:r>
            <a:endParaRPr sz="26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93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自然地理學通論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空間資料蒐集方法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普通地質學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187"/>
              </a:spcBef>
              <a:buFont typeface="Arial"/>
              <a:buChar char="•"/>
              <a:tabLst>
                <a:tab pos="797625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自然地理學基本力學原理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47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地殼變形原理與觀測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自然地理專題與海外實習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353"/>
              </a:spcBef>
              <a:buFont typeface="Arial"/>
              <a:buChar char="•"/>
              <a:tabLst>
                <a:tab pos="797625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自然災害專題與海外實察</a:t>
            </a:r>
            <a:endParaRPr sz="2267">
              <a:latin typeface="微軟正黑體"/>
              <a:cs typeface="微軟正黑體"/>
            </a:endParaRPr>
          </a:p>
          <a:p>
            <a:pPr marL="796780" lvl="1" indent="-259950">
              <a:spcBef>
                <a:spcPts val="220"/>
              </a:spcBef>
              <a:buFont typeface="Arial"/>
              <a:buChar char="•"/>
              <a:tabLst>
                <a:tab pos="797625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高等自然地理調查方法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6EF12DC-5971-4CFE-BE0A-A6865B7644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47</a:t>
            </a:fld>
            <a:endParaRPr lang="zh-TW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6" y="297887"/>
            <a:ext cx="4777551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International</a:t>
            </a:r>
            <a:r>
              <a:rPr sz="3600" b="1" spc="100" dirty="0"/>
              <a:t> </a:t>
            </a:r>
            <a:r>
              <a:rPr sz="3600" b="1" dirty="0"/>
              <a:t>Courses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20373" y="1040332"/>
            <a:ext cx="11272923" cy="36597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76884" indent="-259950">
              <a:spcBef>
                <a:spcPts val="133"/>
              </a:spcBef>
              <a:buFont typeface="Arial"/>
              <a:buChar char="•"/>
              <a:tabLst>
                <a:tab pos="277728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自然地理專題與海外實習、自然災害專題與海外實察、世界地形學、世界地理海外實習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0374" y="1548313"/>
            <a:ext cx="6577494" cy="6204261"/>
          </a:xfrm>
          <a:prstGeom prst="rect">
            <a:avLst/>
          </a:prstGeom>
        </p:spPr>
        <p:txBody>
          <a:bodyPr vert="horz" wrap="square" lIns="0" tIns="60958" rIns="0" bIns="0" rtlCol="0">
            <a:spAutoFit/>
          </a:bodyPr>
          <a:lstStyle/>
          <a:p>
            <a:pPr marL="1085514" marR="2367475" indent="-1068583">
              <a:lnSpc>
                <a:spcPts val="2400"/>
              </a:lnSpc>
              <a:spcBef>
                <a:spcPts val="480"/>
              </a:spcBef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2008: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South Pacific region  Northern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Kyushu,</a:t>
            </a:r>
            <a:r>
              <a:rPr sz="2267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Japan</a:t>
            </a:r>
            <a:endParaRPr sz="2267">
              <a:latin typeface="Arial"/>
              <a:cs typeface="Arial"/>
            </a:endParaRPr>
          </a:p>
          <a:p>
            <a:pPr marL="1085514" indent="-1068583">
              <a:lnSpc>
                <a:spcPts val="2147"/>
              </a:lnSpc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2009: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Marshall</a:t>
            </a:r>
            <a:r>
              <a:rPr sz="2267" spc="-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Islands</a:t>
            </a:r>
            <a:endParaRPr sz="2267">
              <a:latin typeface="Arial"/>
              <a:cs typeface="Arial"/>
            </a:endParaRPr>
          </a:p>
          <a:p>
            <a:pPr marL="1085514" indent="-1068583">
              <a:lnSpc>
                <a:spcPts val="2333"/>
              </a:lnSpc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2010:</a:t>
            </a:r>
            <a:r>
              <a:rPr sz="2267" spc="-1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Swaziland</a:t>
            </a:r>
            <a:endParaRPr sz="2267">
              <a:latin typeface="Arial"/>
              <a:cs typeface="Arial"/>
            </a:endParaRPr>
          </a:p>
          <a:p>
            <a:pPr marL="1085514" indent="-1068583">
              <a:lnSpc>
                <a:spcPts val="2400"/>
              </a:lnSpc>
              <a:buChar char="•"/>
              <a:tabLst>
                <a:tab pos="277728" algn="l"/>
              </a:tabLst>
            </a:pPr>
            <a:r>
              <a:rPr sz="2267" spc="-33" dirty="0">
                <a:solidFill>
                  <a:srgbClr val="FFFFFF"/>
                </a:solidFill>
                <a:latin typeface="Arial"/>
                <a:cs typeface="Arial"/>
              </a:rPr>
              <a:t>2011: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Saint</a:t>
            </a:r>
            <a:r>
              <a:rPr sz="22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Lucia</a:t>
            </a:r>
            <a:endParaRPr sz="2267">
              <a:latin typeface="Arial"/>
              <a:cs typeface="Arial"/>
            </a:endParaRPr>
          </a:p>
          <a:p>
            <a:pPr marL="1085514" indent="-1068583">
              <a:lnSpc>
                <a:spcPts val="2400"/>
              </a:lnSpc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2012:</a:t>
            </a:r>
            <a:r>
              <a:rPr sz="2267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Germany</a:t>
            </a:r>
            <a:endParaRPr sz="2267">
              <a:latin typeface="Arial"/>
              <a:cs typeface="Arial"/>
            </a:endParaRPr>
          </a:p>
          <a:p>
            <a:pPr marL="1085514" indent="-1068583">
              <a:lnSpc>
                <a:spcPts val="2400"/>
              </a:lnSpc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2013: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Germany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267" spc="-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Switzerland</a:t>
            </a:r>
            <a:endParaRPr sz="2267">
              <a:latin typeface="Arial"/>
              <a:cs typeface="Arial"/>
            </a:endParaRPr>
          </a:p>
          <a:p>
            <a:pPr marL="1085514" indent="-1068583">
              <a:lnSpc>
                <a:spcPts val="2400"/>
              </a:lnSpc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2015:</a:t>
            </a:r>
            <a:r>
              <a:rPr sz="22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France</a:t>
            </a:r>
            <a:endParaRPr sz="2267">
              <a:latin typeface="Arial"/>
              <a:cs typeface="Arial"/>
            </a:endParaRPr>
          </a:p>
          <a:p>
            <a:pPr marL="1085514" indent="-1068583">
              <a:lnSpc>
                <a:spcPts val="2400"/>
              </a:lnSpc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2016: Beijing and Xian,</a:t>
            </a:r>
            <a:r>
              <a:rPr sz="22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China</a:t>
            </a:r>
            <a:endParaRPr sz="2267">
              <a:latin typeface="Arial"/>
              <a:cs typeface="Arial"/>
            </a:endParaRPr>
          </a:p>
          <a:p>
            <a:pPr marL="1085514" indent="-1068583">
              <a:lnSpc>
                <a:spcPts val="2400"/>
              </a:lnSpc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2017: Kyushu,</a:t>
            </a:r>
            <a:r>
              <a:rPr sz="2267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Japan</a:t>
            </a:r>
            <a:endParaRPr sz="2267">
              <a:latin typeface="Arial"/>
              <a:cs typeface="Arial"/>
            </a:endParaRPr>
          </a:p>
          <a:p>
            <a:pPr marL="1085514" indent="-1068583">
              <a:lnSpc>
                <a:spcPts val="2400"/>
              </a:lnSpc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2018: Jeju,</a:t>
            </a:r>
            <a:r>
              <a:rPr sz="2267" spc="-1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Korea</a:t>
            </a:r>
            <a:endParaRPr sz="2267">
              <a:latin typeface="Arial"/>
              <a:cs typeface="Arial"/>
            </a:endParaRPr>
          </a:p>
          <a:p>
            <a:pPr marL="1085514" marR="6773" indent="-1068583">
              <a:lnSpc>
                <a:spcPts val="2400"/>
              </a:lnSpc>
              <a:spcBef>
                <a:spcPts val="187"/>
              </a:spcBef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2019: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France, </a:t>
            </a:r>
            <a:r>
              <a:rPr sz="2267" spc="-27" dirty="0">
                <a:solidFill>
                  <a:srgbClr val="FFFFFF"/>
                </a:solidFill>
                <a:latin typeface="Arial"/>
                <a:cs typeface="Arial"/>
              </a:rPr>
              <a:t>Germany,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Switzerland,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Austria  USA</a:t>
            </a:r>
            <a:endParaRPr sz="2267">
              <a:latin typeface="Arial"/>
              <a:cs typeface="Arial"/>
            </a:endParaRPr>
          </a:p>
          <a:p>
            <a:pPr marL="1085514" indent="-1068583">
              <a:lnSpc>
                <a:spcPts val="2213"/>
              </a:lnSpc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2019: Shikoku and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Kyoto,</a:t>
            </a:r>
            <a:r>
              <a:rPr sz="22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Japan</a:t>
            </a:r>
            <a:endParaRPr sz="2267">
              <a:latin typeface="Arial"/>
              <a:cs typeface="Arial"/>
            </a:endParaRPr>
          </a:p>
          <a:p>
            <a:pPr marL="1085514" marR="69432" indent="-1068583">
              <a:lnSpc>
                <a:spcPts val="2400"/>
              </a:lnSpc>
              <a:spcBef>
                <a:spcPts val="187"/>
              </a:spcBef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2023: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France, </a:t>
            </a:r>
            <a:r>
              <a:rPr sz="2267" spc="-27" dirty="0">
                <a:solidFill>
                  <a:srgbClr val="FFFFFF"/>
                </a:solidFill>
                <a:latin typeface="Arial"/>
                <a:cs typeface="Arial"/>
              </a:rPr>
              <a:t>Germany,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Switzerland,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and Czech  Jeju,</a:t>
            </a:r>
            <a:r>
              <a:rPr sz="22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Korea</a:t>
            </a:r>
            <a:endParaRPr sz="2267">
              <a:latin typeface="Arial"/>
              <a:cs typeface="Arial"/>
            </a:endParaRPr>
          </a:p>
          <a:p>
            <a:pPr marL="1085514" indent="-1068583">
              <a:lnSpc>
                <a:spcPts val="2213"/>
              </a:lnSpc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2024: </a:t>
            </a:r>
            <a:r>
              <a:rPr sz="2267" spc="-40" dirty="0">
                <a:solidFill>
                  <a:srgbClr val="FFFFFF"/>
                </a:solidFill>
                <a:latin typeface="Arial"/>
                <a:cs typeface="Arial"/>
              </a:rPr>
              <a:t>Tohoku,</a:t>
            </a:r>
            <a:r>
              <a:rPr sz="2267" spc="-1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Japan</a:t>
            </a:r>
            <a:endParaRPr sz="2267">
              <a:latin typeface="Arial"/>
              <a:cs typeface="Arial"/>
            </a:endParaRPr>
          </a:p>
          <a:p>
            <a:pPr marL="1136320">
              <a:lnSpc>
                <a:spcPts val="2480"/>
              </a:lnSpc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Kanazawa,</a:t>
            </a:r>
            <a:r>
              <a:rPr sz="2267" spc="-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Japan</a:t>
            </a:r>
            <a:endParaRPr sz="2267">
              <a:latin typeface="Arial"/>
              <a:cs typeface="Arial"/>
            </a:endParaRPr>
          </a:p>
          <a:p>
            <a:pPr marL="1085514" indent="-1068583">
              <a:lnSpc>
                <a:spcPts val="2640"/>
              </a:lnSpc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2025: Kansai,</a:t>
            </a:r>
            <a:r>
              <a:rPr sz="2267" spc="-15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Japan</a:t>
            </a:r>
            <a:endParaRPr sz="22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9891" y="1548310"/>
            <a:ext cx="3501676" cy="5896740"/>
          </a:xfrm>
          <a:prstGeom prst="rect">
            <a:avLst/>
          </a:prstGeom>
        </p:spPr>
        <p:txBody>
          <a:bodyPr vert="horz" wrap="square" lIns="0" tIns="60958" rIns="0" bIns="0" rtlCol="0">
            <a:spAutoFit/>
          </a:bodyPr>
          <a:lstStyle/>
          <a:p>
            <a:pPr marL="16936" marR="2028781">
              <a:lnSpc>
                <a:spcPct val="87300"/>
              </a:lnSpc>
              <a:spcBef>
                <a:spcPts val="480"/>
              </a:spcBef>
            </a:pPr>
            <a:r>
              <a:rPr sz="2267" b="1" spc="-7" dirty="0">
                <a:solidFill>
                  <a:srgbClr val="FFFFFF"/>
                </a:solidFill>
                <a:latin typeface="微軟正黑體"/>
                <a:cs typeface="微軟正黑體"/>
              </a:rPr>
              <a:t>南太平洋 </a:t>
            </a:r>
            <a:r>
              <a:rPr sz="2267" b="1" dirty="0">
                <a:solidFill>
                  <a:srgbClr val="FFFFFF"/>
                </a:solidFill>
                <a:latin typeface="微軟正黑體"/>
                <a:cs typeface="微軟正黑體"/>
              </a:rPr>
              <a:t>日本北九州 馬紹爾群島 </a:t>
            </a:r>
            <a:r>
              <a:rPr sz="2267" b="1" spc="-7" dirty="0">
                <a:solidFill>
                  <a:srgbClr val="FFFFFF"/>
                </a:solidFill>
                <a:latin typeface="微軟正黑體"/>
                <a:cs typeface="微軟正黑體"/>
              </a:rPr>
              <a:t>史瓦濟蘭 聖露西亞 </a:t>
            </a:r>
            <a:r>
              <a:rPr sz="2267" b="1" dirty="0">
                <a:solidFill>
                  <a:srgbClr val="FFFFFF"/>
                </a:solidFill>
                <a:latin typeface="微軟正黑體"/>
                <a:cs typeface="微軟正黑體"/>
              </a:rPr>
              <a:t>德國</a:t>
            </a:r>
            <a:endParaRPr sz="2267">
              <a:latin typeface="微軟正黑體"/>
              <a:cs typeface="微軟正黑體"/>
            </a:endParaRPr>
          </a:p>
          <a:p>
            <a:pPr marL="16936" marR="2028781">
              <a:lnSpc>
                <a:spcPts val="2400"/>
              </a:lnSpc>
              <a:spcBef>
                <a:spcPts val="27"/>
              </a:spcBef>
            </a:pPr>
            <a:r>
              <a:rPr sz="2267" b="1" dirty="0">
                <a:solidFill>
                  <a:srgbClr val="FFFFFF"/>
                </a:solidFill>
                <a:latin typeface="微軟正黑體"/>
                <a:cs typeface="微軟正黑體"/>
              </a:rPr>
              <a:t>德國、瑞士 法國</a:t>
            </a:r>
            <a:endParaRPr sz="2267">
              <a:latin typeface="微軟正黑體"/>
              <a:cs typeface="微軟正黑體"/>
            </a:endParaRPr>
          </a:p>
          <a:p>
            <a:pPr marL="16936" marR="1451308">
              <a:lnSpc>
                <a:spcPts val="2400"/>
              </a:lnSpc>
            </a:pPr>
            <a:r>
              <a:rPr sz="2267" b="1" dirty="0">
                <a:solidFill>
                  <a:srgbClr val="FFFFFF"/>
                </a:solidFill>
                <a:latin typeface="微軟正黑體"/>
                <a:cs typeface="微軟正黑體"/>
              </a:rPr>
              <a:t>中國北京、西安 日本九州</a:t>
            </a:r>
            <a:endParaRPr sz="2267">
              <a:latin typeface="微軟正黑體"/>
              <a:cs typeface="微軟正黑體"/>
            </a:endParaRPr>
          </a:p>
          <a:p>
            <a:pPr marL="16936">
              <a:lnSpc>
                <a:spcPts val="2213"/>
              </a:lnSpc>
            </a:pPr>
            <a:r>
              <a:rPr sz="2267" b="1" dirty="0">
                <a:solidFill>
                  <a:srgbClr val="FFFFFF"/>
                </a:solidFill>
                <a:latin typeface="微軟正黑體"/>
                <a:cs typeface="微軟正黑體"/>
              </a:rPr>
              <a:t>韓國濟州島</a:t>
            </a:r>
            <a:endParaRPr sz="2267">
              <a:latin typeface="微軟正黑體"/>
              <a:cs typeface="微軟正黑體"/>
            </a:endParaRPr>
          </a:p>
          <a:p>
            <a:pPr marL="16936" marR="6773">
              <a:lnSpc>
                <a:spcPts val="2400"/>
              </a:lnSpc>
              <a:spcBef>
                <a:spcPts val="187"/>
              </a:spcBef>
            </a:pPr>
            <a:r>
              <a:rPr sz="2267" b="1" spc="-7" dirty="0">
                <a:solidFill>
                  <a:srgbClr val="FFFFFF"/>
                </a:solidFill>
                <a:latin typeface="微軟正黑體"/>
                <a:cs typeface="微軟正黑體"/>
              </a:rPr>
              <a:t>瑞士、法國、德國、奧地利 </a:t>
            </a:r>
            <a:r>
              <a:rPr sz="2267" b="1" dirty="0">
                <a:solidFill>
                  <a:srgbClr val="FFFFFF"/>
                </a:solidFill>
                <a:latin typeface="微軟正黑體"/>
                <a:cs typeface="微軟正黑體"/>
              </a:rPr>
              <a:t>美國</a:t>
            </a:r>
            <a:endParaRPr sz="2267">
              <a:latin typeface="微軟正黑體"/>
              <a:cs typeface="微軟正黑體"/>
            </a:endParaRPr>
          </a:p>
          <a:p>
            <a:pPr marL="16936">
              <a:lnSpc>
                <a:spcPts val="2213"/>
              </a:lnSpc>
            </a:pPr>
            <a:r>
              <a:rPr sz="2267" b="1" dirty="0">
                <a:solidFill>
                  <a:srgbClr val="FFFFFF"/>
                </a:solidFill>
                <a:latin typeface="微軟正黑體"/>
                <a:cs typeface="微軟正黑體"/>
              </a:rPr>
              <a:t>日本四國與京都</a:t>
            </a:r>
            <a:endParaRPr sz="2267">
              <a:latin typeface="微軟正黑體"/>
              <a:cs typeface="微軟正黑體"/>
            </a:endParaRPr>
          </a:p>
          <a:p>
            <a:pPr marL="16936" marR="295511">
              <a:lnSpc>
                <a:spcPts val="2400"/>
              </a:lnSpc>
              <a:spcBef>
                <a:spcPts val="187"/>
              </a:spcBef>
            </a:pPr>
            <a:r>
              <a:rPr sz="2267" b="1" spc="-7" dirty="0">
                <a:solidFill>
                  <a:srgbClr val="FFFFFF"/>
                </a:solidFill>
                <a:latin typeface="微軟正黑體"/>
                <a:cs typeface="微軟正黑體"/>
              </a:rPr>
              <a:t>瑞士、法國、德國、捷克 </a:t>
            </a:r>
            <a:r>
              <a:rPr sz="2267" b="1" dirty="0">
                <a:solidFill>
                  <a:srgbClr val="FFFFFF"/>
                </a:solidFill>
                <a:latin typeface="微軟正黑體"/>
                <a:cs typeface="微軟正黑體"/>
              </a:rPr>
              <a:t>韓國濟州島</a:t>
            </a:r>
            <a:endParaRPr sz="2267">
              <a:latin typeface="微軟正黑體"/>
              <a:cs typeface="微軟正黑體"/>
            </a:endParaRPr>
          </a:p>
          <a:p>
            <a:pPr marL="16936" marR="2318366">
              <a:lnSpc>
                <a:spcPts val="2400"/>
              </a:lnSpc>
            </a:pPr>
            <a:r>
              <a:rPr sz="2267" b="1" dirty="0">
                <a:solidFill>
                  <a:srgbClr val="FFFFFF"/>
                </a:solidFill>
                <a:latin typeface="微軟正黑體"/>
                <a:cs typeface="微軟正黑體"/>
              </a:rPr>
              <a:t>日本東北 日本金澤</a:t>
            </a:r>
            <a:endParaRPr sz="2267">
              <a:latin typeface="微軟正黑體"/>
              <a:cs typeface="微軟正黑體"/>
            </a:endParaRPr>
          </a:p>
          <a:p>
            <a:pPr marL="16936">
              <a:lnSpc>
                <a:spcPts val="2533"/>
              </a:lnSpc>
            </a:pPr>
            <a:r>
              <a:rPr sz="2267" b="1" dirty="0">
                <a:solidFill>
                  <a:srgbClr val="FFFFFF"/>
                </a:solidFill>
                <a:latin typeface="微軟正黑體"/>
                <a:cs typeface="微軟正黑體"/>
              </a:rPr>
              <a:t>日本近畿</a:t>
            </a:r>
            <a:endParaRPr sz="2267">
              <a:latin typeface="微軟正黑體"/>
              <a:cs typeface="微軟正黑體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FBAF53-CA46-42CE-B964-D60BE456F2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48</a:t>
            </a:fld>
            <a:endParaRPr lang="zh-TW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49195" y="4426678"/>
            <a:ext cx="8898539" cy="325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-220117" y="4426673"/>
            <a:ext cx="4969310" cy="32534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20366" y="297887"/>
            <a:ext cx="4777551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dirty="0"/>
              <a:t>International</a:t>
            </a:r>
            <a:r>
              <a:rPr sz="3600" b="1" spc="100" dirty="0"/>
              <a:t> </a:t>
            </a:r>
            <a:r>
              <a:rPr sz="3600" b="1" dirty="0"/>
              <a:t>Courses</a:t>
            </a:r>
            <a:endParaRPr sz="3600"/>
          </a:p>
        </p:txBody>
      </p:sp>
      <p:sp>
        <p:nvSpPr>
          <p:cNvPr id="5" name="object 5"/>
          <p:cNvSpPr/>
          <p:nvPr/>
        </p:nvSpPr>
        <p:spPr>
          <a:xfrm>
            <a:off x="-220124" y="1101909"/>
            <a:ext cx="13867854" cy="33249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4E8FE43-412C-41C6-8A5B-5535FFB549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49</a:t>
            </a:fld>
            <a:endParaRPr lang="zh-TW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6" y="318207"/>
            <a:ext cx="1882913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33" dirty="0">
                <a:latin typeface="微軟正黑體"/>
                <a:cs typeface="微軟正黑體"/>
              </a:rPr>
              <a:t>領域專長</a:t>
            </a:r>
            <a:endParaRPr sz="3600">
              <a:latin typeface="微軟正黑體"/>
              <a:cs typeface="微軟正黑體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373" y="1276267"/>
            <a:ext cx="4120564" cy="5536468"/>
          </a:xfrm>
          <a:prstGeom prst="rect">
            <a:avLst/>
          </a:prstGeom>
        </p:spPr>
        <p:txBody>
          <a:bodyPr vert="horz" wrap="square" lIns="0" tIns="130382" rIns="0" bIns="0" rtlCol="0">
            <a:spAutoFit/>
          </a:bodyPr>
          <a:lstStyle/>
          <a:p>
            <a:pPr marL="276884" indent="-259950">
              <a:spcBef>
                <a:spcPts val="1027"/>
              </a:spcBef>
              <a:buChar char="•"/>
              <a:tabLst>
                <a:tab pos="277728" algn="l"/>
              </a:tabLst>
            </a:pP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https://specom.aca.ntu.edu.tw</a:t>
            </a:r>
            <a:endParaRPr sz="2267" dirty="0">
              <a:latin typeface="Arial"/>
              <a:cs typeface="Arial"/>
            </a:endParaRPr>
          </a:p>
          <a:p>
            <a:pPr marL="276884" indent="-259950">
              <a:spcBef>
                <a:spcPts val="893"/>
              </a:spcBef>
              <a:buFont typeface="Arial"/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地理數據科學</a:t>
            </a:r>
            <a:endParaRPr sz="2267" dirty="0">
              <a:latin typeface="微軟正黑體"/>
              <a:cs typeface="微軟正黑體"/>
            </a:endParaRPr>
          </a:p>
          <a:p>
            <a:pPr marL="276884" indent="-259950">
              <a:spcBef>
                <a:spcPts val="767"/>
              </a:spcBef>
              <a:buFont typeface="Arial"/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關鍵區科學</a:t>
            </a:r>
            <a:endParaRPr sz="2267" dirty="0">
              <a:latin typeface="微軟正黑體"/>
              <a:cs typeface="微軟正黑體"/>
            </a:endParaRPr>
          </a:p>
          <a:p>
            <a:pPr marL="276884" indent="-259950">
              <a:spcBef>
                <a:spcPts val="860"/>
              </a:spcBef>
              <a:buFont typeface="Arial"/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地球化學原理與應用</a:t>
            </a:r>
            <a:endParaRPr sz="2267" dirty="0">
              <a:latin typeface="微軟正黑體"/>
              <a:cs typeface="微軟正黑體"/>
            </a:endParaRPr>
          </a:p>
          <a:p>
            <a:pPr marL="276884" indent="-259950">
              <a:spcBef>
                <a:spcPts val="893"/>
              </a:spcBef>
              <a:buFont typeface="Arial"/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地球物理學</a:t>
            </a:r>
            <a:endParaRPr sz="2267" dirty="0">
              <a:latin typeface="微軟正黑體"/>
              <a:cs typeface="微軟正黑體"/>
            </a:endParaRPr>
          </a:p>
          <a:p>
            <a:pPr marL="276884" indent="-259950">
              <a:spcBef>
                <a:spcPts val="860"/>
              </a:spcBef>
              <a:buFont typeface="Arial"/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氣候發展與治理</a:t>
            </a:r>
            <a:endParaRPr sz="2267" dirty="0">
              <a:latin typeface="微軟正黑體"/>
              <a:cs typeface="微軟正黑體"/>
            </a:endParaRPr>
          </a:p>
          <a:p>
            <a:pPr marL="276884" indent="-259950">
              <a:spcBef>
                <a:spcPts val="761"/>
              </a:spcBef>
              <a:buFont typeface="Arial"/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環境永續工程</a:t>
            </a:r>
            <a:endParaRPr sz="2267" dirty="0">
              <a:latin typeface="微軟正黑體"/>
              <a:cs typeface="微軟正黑體"/>
            </a:endParaRPr>
          </a:p>
          <a:p>
            <a:pPr marL="276884" indent="-259950">
              <a:spcBef>
                <a:spcPts val="860"/>
              </a:spcBef>
              <a:buFont typeface="Arial"/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環境大數據分析</a:t>
            </a:r>
            <a:endParaRPr sz="2267" dirty="0">
              <a:latin typeface="微軟正黑體"/>
              <a:cs typeface="微軟正黑體"/>
            </a:endParaRPr>
          </a:p>
          <a:p>
            <a:pPr marL="276884" indent="-259950">
              <a:spcBef>
                <a:spcPts val="893"/>
              </a:spcBef>
              <a:buFont typeface="Arial"/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永續環境治理</a:t>
            </a:r>
            <a:endParaRPr sz="2267" dirty="0">
              <a:latin typeface="微軟正黑體"/>
              <a:cs typeface="微軟正黑體"/>
            </a:endParaRPr>
          </a:p>
          <a:p>
            <a:pPr marL="276884" indent="-259950">
              <a:spcBef>
                <a:spcPts val="860"/>
              </a:spcBef>
              <a:buFont typeface="Arial"/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森林環境氣候變遷</a:t>
            </a:r>
            <a:endParaRPr sz="2267" dirty="0">
              <a:latin typeface="微軟正黑體"/>
              <a:cs typeface="微軟正黑體"/>
            </a:endParaRPr>
          </a:p>
          <a:p>
            <a:pPr marL="276884" indent="-259950">
              <a:spcBef>
                <a:spcPts val="893"/>
              </a:spcBef>
              <a:buFont typeface="Arial"/>
              <a:buChar char="•"/>
              <a:tabLst>
                <a:tab pos="277728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淨零碳排農業策略與管理</a:t>
            </a:r>
            <a:endParaRPr sz="2267" dirty="0">
              <a:latin typeface="微軟正黑體"/>
              <a:cs typeface="微軟正黑體"/>
            </a:endParaRPr>
          </a:p>
          <a:p>
            <a:pPr marL="276884" indent="-259950">
              <a:spcBef>
                <a:spcPts val="733"/>
              </a:spcBef>
              <a:buFont typeface="Arial"/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林業碳匯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2267" dirty="0">
              <a:latin typeface="Arial"/>
              <a:cs typeface="Arial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35A298-0C85-4A98-A50C-F6A973EEAC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50</a:t>
            </a:fld>
            <a:endParaRPr lang="zh-TW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0368" y="318207"/>
            <a:ext cx="3269698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6">
              <a:spcBef>
                <a:spcPts val="133"/>
              </a:spcBef>
            </a:pPr>
            <a:r>
              <a:rPr sz="3600" b="1" spc="33" dirty="0">
                <a:latin typeface="微軟正黑體"/>
                <a:cs typeface="微軟正黑體"/>
              </a:rPr>
              <a:t>學士班榮譽學程</a:t>
            </a:r>
            <a:endParaRPr sz="3600">
              <a:latin typeface="微軟正黑體"/>
              <a:cs typeface="微軟正黑體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0374" y="1357309"/>
            <a:ext cx="11753811" cy="5409555"/>
          </a:xfrm>
          <a:prstGeom prst="rect">
            <a:avLst/>
          </a:prstGeom>
        </p:spPr>
        <p:txBody>
          <a:bodyPr vert="horz" wrap="square" lIns="0" tIns="83817" rIns="0" bIns="0" rtlCol="0">
            <a:spAutoFit/>
          </a:bodyPr>
          <a:lstStyle/>
          <a:p>
            <a:pPr marL="276884" marR="75358" indent="-259950">
              <a:lnSpc>
                <a:spcPct val="80600"/>
              </a:lnSpc>
              <a:spcBef>
                <a:spcPts val="660"/>
              </a:spcBef>
              <a:buFont typeface="Arial"/>
              <a:buChar char="•"/>
              <a:tabLst>
                <a:tab pos="277728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本系學士班二年級（含）以上學生每學期之等地績分平均</a:t>
            </a:r>
            <a:r>
              <a:rPr sz="2267" spc="-40" dirty="0">
                <a:solidFill>
                  <a:srgbClr val="FFFFFF"/>
                </a:solidFill>
                <a:latin typeface="微軟正黑體"/>
                <a:cs typeface="微軟正黑體"/>
              </a:rPr>
              <a:t>（</a:t>
            </a:r>
            <a:r>
              <a:rPr sz="2267" spc="-40" dirty="0">
                <a:solidFill>
                  <a:srgbClr val="FFFFFF"/>
                </a:solidFill>
                <a:latin typeface="Arial"/>
                <a:cs typeface="Arial"/>
              </a:rPr>
              <a:t>GPA</a:t>
            </a:r>
            <a:r>
              <a:rPr sz="2267" spc="-40" dirty="0">
                <a:solidFill>
                  <a:srgbClr val="FFFFFF"/>
                </a:solidFill>
                <a:latin typeface="微軟正黑體"/>
                <a:cs typeface="微軟正黑體"/>
              </a:rPr>
              <a:t>）</a:t>
            </a: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均達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3.3</a:t>
            </a: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（含）以上、且 修畢本系「自然地理學通論、人文地理學通論、程式設計、地圖與地理資訊系統」四門課 之等地績分平均</a:t>
            </a:r>
            <a:r>
              <a:rPr sz="2267" spc="-40" dirty="0">
                <a:solidFill>
                  <a:srgbClr val="FFFFFF"/>
                </a:solidFill>
                <a:latin typeface="微軟正黑體"/>
                <a:cs typeface="微軟正黑體"/>
              </a:rPr>
              <a:t>（</a:t>
            </a:r>
            <a:r>
              <a:rPr sz="2267" spc="-40" dirty="0">
                <a:solidFill>
                  <a:srgbClr val="FFFFFF"/>
                </a:solidFill>
                <a:latin typeface="Arial"/>
                <a:cs typeface="Arial"/>
              </a:rPr>
              <a:t>GPA</a:t>
            </a:r>
            <a:r>
              <a:rPr sz="2267" spc="-40" dirty="0">
                <a:solidFill>
                  <a:srgbClr val="FFFFFF"/>
                </a:solidFill>
                <a:latin typeface="微軟正黑體"/>
                <a:cs typeface="微軟正黑體"/>
              </a:rPr>
              <a:t>）</a:t>
            </a: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均達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3.5</a:t>
            </a: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（含）以上，使得申請修讀本學程。</a:t>
            </a:r>
            <a:endParaRPr sz="2267" dirty="0">
              <a:latin typeface="微軟正黑體"/>
              <a:cs typeface="微軟正黑體"/>
            </a:endParaRPr>
          </a:p>
          <a:p>
            <a:pPr marL="276884" marR="198136" indent="-259950">
              <a:lnSpc>
                <a:spcPct val="77600"/>
              </a:lnSpc>
              <a:spcBef>
                <a:spcPts val="1247"/>
              </a:spcBef>
              <a:buFont typeface="Arial"/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申請時，需檢附歷年成績單及就讀學程申請書，第一學期於十月底前，第二學期於三月底 前，向系辦提出申請，交付本系學程小組審查。</a:t>
            </a:r>
            <a:endParaRPr sz="2267" dirty="0">
              <a:latin typeface="微軟正黑體"/>
              <a:cs typeface="微軟正黑體"/>
            </a:endParaRPr>
          </a:p>
          <a:p>
            <a:pPr marL="276884" marR="198136" indent="-259950">
              <a:lnSpc>
                <a:spcPct val="77600"/>
              </a:lnSpc>
              <a:spcBef>
                <a:spcPts val="1247"/>
              </a:spcBef>
              <a:buFont typeface="Arial"/>
              <a:buChar char="•"/>
              <a:tabLst>
                <a:tab pos="277728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經本系學程小組審查同意後，安排本系專任教師為指導老師，由指導老師輔導學生選修學 程課程及指導學士論文。</a:t>
            </a:r>
            <a:endParaRPr sz="2267" dirty="0">
              <a:latin typeface="微軟正黑體"/>
              <a:cs typeface="微軟正黑體"/>
            </a:endParaRPr>
          </a:p>
          <a:p>
            <a:pPr marL="276884" marR="165960" indent="-259950">
              <a:lnSpc>
                <a:spcPts val="2240"/>
              </a:lnSpc>
              <a:spcBef>
                <a:spcPts val="980"/>
              </a:spcBef>
              <a:buFont typeface="Arial"/>
              <a:buChar char="•"/>
              <a:tabLst>
                <a:tab pos="277728" algn="l"/>
              </a:tabLst>
            </a:pP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本學程應修進階課程為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學分，由指導老師依學生研究領域，協助規劃選擇本校</a:t>
            </a:r>
            <a:r>
              <a:rPr sz="2267" b="1" u="heavy" dirty="0">
                <a:solidFill>
                  <a:srgbClr val="FFFFFF"/>
                </a:solidFill>
                <a:latin typeface="微軟正黑體"/>
                <a:cs typeface="微軟正黑體"/>
              </a:rPr>
              <a:t>大三以上</a:t>
            </a:r>
            <a:r>
              <a:rPr sz="2267" b="1" u="heavy" spc="-2240" dirty="0">
                <a:solidFill>
                  <a:srgbClr val="FFFFFF"/>
                </a:solidFill>
                <a:latin typeface="微軟正黑體"/>
                <a:cs typeface="微軟正黑體"/>
              </a:rPr>
              <a:t>高 </a:t>
            </a:r>
            <a:r>
              <a:rPr sz="2267" b="1" u="heavy" dirty="0">
                <a:solidFill>
                  <a:srgbClr val="FFFFFF"/>
                </a:solidFill>
                <a:latin typeface="微軟正黑體"/>
                <a:cs typeface="微軟正黑體"/>
              </a:rPr>
              <a:t>階</a:t>
            </a: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課程為該生專業課程（須由指導老師簽名確認），以及學士論文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學分，共</a:t>
            </a:r>
            <a:r>
              <a:rPr sz="2267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學分。</a:t>
            </a:r>
            <a:endParaRPr sz="2267" dirty="0">
              <a:latin typeface="微軟正黑體"/>
              <a:cs typeface="微軟正黑體"/>
            </a:endParaRPr>
          </a:p>
          <a:p>
            <a:pPr marL="276884" marR="6773" indent="-259950">
              <a:lnSpc>
                <a:spcPct val="80000"/>
              </a:lnSpc>
              <a:spcBef>
                <a:spcPts val="1053"/>
              </a:spcBef>
              <a:buFont typeface="Arial"/>
              <a:buChar char="•"/>
              <a:tabLst>
                <a:tab pos="277728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學生修畢進階課程科目，成績</a:t>
            </a:r>
            <a:r>
              <a:rPr sz="2267" b="1" u="heavy" spc="-7" dirty="0">
                <a:solidFill>
                  <a:srgbClr val="FFFFFF"/>
                </a:solidFill>
                <a:latin typeface="微軟正黑體"/>
                <a:cs typeface="微軟正黑體"/>
              </a:rPr>
              <a:t>皆</a:t>
            </a: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達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A-</a:t>
            </a: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以上，且完成學士論文，得於修業期間向本系申請學 士榮譽學程審查，至遲於應屆畢業當學年，第一學期應於十月底前提出，第二學期應於三 月底前提出。由學程小組審查書面論文及進行論文口試評分，成績須達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以上，始能獲得學 </a:t>
            </a:r>
            <a:r>
              <a:rPr sz="2267" dirty="0">
                <a:solidFill>
                  <a:srgbClr val="FFFFFF"/>
                </a:solidFill>
                <a:latin typeface="微軟正黑體"/>
                <a:cs typeface="微軟正黑體"/>
              </a:rPr>
              <a:t>士榮譽學程</a:t>
            </a: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。</a:t>
            </a:r>
            <a:endParaRPr sz="2267" dirty="0">
              <a:latin typeface="微軟正黑體"/>
              <a:cs typeface="微軟正黑體"/>
            </a:endParaRPr>
          </a:p>
          <a:p>
            <a:pPr marL="276884" indent="-259950">
              <a:spcBef>
                <a:spcPts val="600"/>
              </a:spcBef>
              <a:buFont typeface="Arial"/>
              <a:buChar char="•"/>
              <a:tabLst>
                <a:tab pos="277728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若學士論文口試成績達</a:t>
            </a:r>
            <a:r>
              <a:rPr sz="2267" spc="-7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＋，則由本系主動推薦參加本校學士論文獎選拔。</a:t>
            </a:r>
            <a:endParaRPr sz="2267" dirty="0">
              <a:latin typeface="微軟正黑體"/>
              <a:cs typeface="微軟正黑體"/>
            </a:endParaRPr>
          </a:p>
          <a:p>
            <a:pPr marL="276884" marR="198136" indent="-259950">
              <a:lnSpc>
                <a:spcPct val="78800"/>
              </a:lnSpc>
              <a:spcBef>
                <a:spcPts val="1181"/>
              </a:spcBef>
              <a:buFont typeface="Arial"/>
              <a:buChar char="•"/>
              <a:tabLst>
                <a:tab pos="277728" algn="l"/>
              </a:tabLst>
            </a:pPr>
            <a:r>
              <a:rPr sz="2267" spc="-7" dirty="0">
                <a:solidFill>
                  <a:srgbClr val="FFFFFF"/>
                </a:solidFill>
                <a:latin typeface="微軟正黑體"/>
                <a:cs typeface="微軟正黑體"/>
              </a:rPr>
              <a:t>學生經本系及教務處審核通過者，得於學位證書、歷年成績單及相關證明文件加註「地理 環境資源學系學士榮譽學程。」</a:t>
            </a:r>
            <a:endParaRPr sz="2267" dirty="0">
              <a:latin typeface="微軟正黑體"/>
              <a:cs typeface="微軟正黑體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E949DE-C253-4DAB-9129-5A2007FEEA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51</a:t>
            </a:fld>
            <a:endParaRPr lang="zh-TW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4D856-5297-4A39-92AF-85006F5CA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Systems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1D1F05-AE7C-4399-9B12-14D652968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 system can be defined as a collection of interrelated parts that work together by way of some driving process.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Open, closed, Isolated,….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Science vs. Engineering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Understand phenomenon vs. Improve design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739C35-674F-4F43-B1A4-A738A45A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39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4756A538-DF44-48A7-8A15-6EA9CA98A4E2}"/>
              </a:ext>
            </a:extLst>
          </p:cNvPr>
          <p:cNvSpPr/>
          <p:nvPr/>
        </p:nvSpPr>
        <p:spPr>
          <a:xfrm>
            <a:off x="3279552" y="725846"/>
            <a:ext cx="5834669" cy="583466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endParaRPr lang="zh-TW" altLang="en-US" sz="1985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9D2C7C4-7FB3-4528-8705-457B70FC426B}"/>
              </a:ext>
            </a:extLst>
          </p:cNvPr>
          <p:cNvSpPr txBox="1"/>
          <p:nvPr/>
        </p:nvSpPr>
        <p:spPr>
          <a:xfrm>
            <a:off x="5542797" y="1165125"/>
            <a:ext cx="1322798" cy="49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8309"/>
            <a:r>
              <a:rPr lang="en-US" altLang="zh-TW" sz="2646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Nature</a:t>
            </a:r>
            <a:endParaRPr lang="zh-TW" altLang="en-US" sz="2646" b="1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B4441C-3ABD-47AA-842C-2B61A18CF54F}"/>
              </a:ext>
            </a:extLst>
          </p:cNvPr>
          <p:cNvSpPr/>
          <p:nvPr/>
        </p:nvSpPr>
        <p:spPr>
          <a:xfrm>
            <a:off x="3886516" y="3643181"/>
            <a:ext cx="1106238" cy="723180"/>
          </a:xfrm>
          <a:prstGeom prst="rect">
            <a:avLst/>
          </a:prstGeom>
          <a:ln w="285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rPr>
              <a:t>system</a:t>
            </a:r>
            <a:endParaRPr lang="zh-TW" altLang="en-US" sz="1985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0496689-A7F6-432C-9532-D0857729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99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C4EF56A-6702-46B5-9F71-975A8B6B8912}"/>
              </a:ext>
            </a:extLst>
          </p:cNvPr>
          <p:cNvSpPr/>
          <p:nvPr/>
        </p:nvSpPr>
        <p:spPr>
          <a:xfrm>
            <a:off x="3546203" y="2212624"/>
            <a:ext cx="5842131" cy="3819172"/>
          </a:xfrm>
          <a:prstGeom prst="rect">
            <a:avLst/>
          </a:prstGeom>
          <a:ln w="285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3088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system</a:t>
            </a:r>
            <a:endParaRPr lang="zh-TW" altLang="en-US" sz="3088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7F0CF7B-EA9A-43A9-9FC9-9731DA82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5426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A20615C-8DF4-4A76-9453-96C22248D00A}"/>
              </a:ext>
            </a:extLst>
          </p:cNvPr>
          <p:cNvSpPr/>
          <p:nvPr/>
        </p:nvSpPr>
        <p:spPr>
          <a:xfrm>
            <a:off x="3546203" y="2212624"/>
            <a:ext cx="5842131" cy="3819172"/>
          </a:xfrm>
          <a:prstGeom prst="rect">
            <a:avLst/>
          </a:prstGeom>
          <a:ln w="285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397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system</a:t>
            </a:r>
            <a:endParaRPr lang="zh-TW" altLang="en-US" sz="397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DE96745-E4DB-4342-B9D6-F53AEE95E5D5}"/>
              </a:ext>
            </a:extLst>
          </p:cNvPr>
          <p:cNvSpPr/>
          <p:nvPr/>
        </p:nvSpPr>
        <p:spPr>
          <a:xfrm>
            <a:off x="5018859" y="309708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Forces</a:t>
            </a:r>
            <a:endParaRPr lang="zh-TW" altLang="en-US" sz="1985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57D3F820-FE7A-4621-ABC2-DBA23A96E560}"/>
              </a:ext>
            </a:extLst>
          </p:cNvPr>
          <p:cNvSpPr/>
          <p:nvPr/>
        </p:nvSpPr>
        <p:spPr>
          <a:xfrm>
            <a:off x="5948881" y="1502870"/>
            <a:ext cx="685280" cy="558013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endParaRPr lang="zh-TW" altLang="en-US" sz="1985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71CC4BCB-B2E4-4EBD-AA4B-7D95E6E43D9F}"/>
              </a:ext>
            </a:extLst>
          </p:cNvPr>
          <p:cNvSpPr/>
          <p:nvPr/>
        </p:nvSpPr>
        <p:spPr>
          <a:xfrm>
            <a:off x="2385429" y="3013311"/>
            <a:ext cx="8125461" cy="359395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008309"/>
            <a:endParaRPr lang="zh-TW" altLang="en-US" sz="1985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F204B5E-58FB-45EC-ACD4-3BC945113936}"/>
              </a:ext>
            </a:extLst>
          </p:cNvPr>
          <p:cNvSpPr/>
          <p:nvPr/>
        </p:nvSpPr>
        <p:spPr>
          <a:xfrm>
            <a:off x="5018859" y="3005591"/>
            <a:ext cx="2545325" cy="45195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Matter</a:t>
            </a:r>
            <a:endParaRPr lang="zh-TW" altLang="en-US" sz="1985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4D67A3E8-6CFB-4678-A247-C6D6E315C351}"/>
              </a:ext>
            </a:extLst>
          </p:cNvPr>
          <p:cNvSpPr/>
          <p:nvPr/>
        </p:nvSpPr>
        <p:spPr>
          <a:xfrm>
            <a:off x="2356058" y="4776652"/>
            <a:ext cx="8125461" cy="35939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008309"/>
            <a:endParaRPr lang="zh-TW" altLang="en-US" sz="1985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FC03514C-B1AE-4C1A-BA6C-15B4B44C746E}"/>
              </a:ext>
            </a:extLst>
          </p:cNvPr>
          <p:cNvSpPr/>
          <p:nvPr/>
        </p:nvSpPr>
        <p:spPr>
          <a:xfrm>
            <a:off x="5018859" y="4720423"/>
            <a:ext cx="2545325" cy="451959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Energy</a:t>
            </a:r>
            <a:endParaRPr lang="zh-TW" altLang="en-US" sz="1985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8E791D0-BC5F-4E39-AF95-5B6BAF6F5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196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0" grpId="0" animBg="1"/>
      <p:bldP spid="13" grpId="0" animBg="1"/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951171D-DC40-4FD2-B772-E68ACD2CB244}"/>
              </a:ext>
            </a:extLst>
          </p:cNvPr>
          <p:cNvSpPr/>
          <p:nvPr/>
        </p:nvSpPr>
        <p:spPr>
          <a:xfrm>
            <a:off x="3546203" y="2212624"/>
            <a:ext cx="5842131" cy="3819172"/>
          </a:xfrm>
          <a:prstGeom prst="rect">
            <a:avLst/>
          </a:prstGeom>
          <a:ln w="285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397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rPr>
              <a:t>system</a:t>
            </a:r>
            <a:endParaRPr lang="zh-TW" altLang="en-US" sz="397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E584A53-EAAC-4502-AE1E-F07B73DBF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853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C042D-64E8-41FF-822E-2DC6DFA9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1C63C0-4915-4E10-8527-DF7EE27C7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 descr="大突破？科學家發現人體新器官| Interstitium | 人體器官| 間質| 大紀元">
            <a:extLst>
              <a:ext uri="{FF2B5EF4-FFF2-40B4-BE49-F238E27FC236}">
                <a16:creationId xmlns:a16="http://schemas.microsoft.com/office/drawing/2014/main" id="{AC3DFBAA-BA92-4A0B-BA01-F47FCD0FC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710" y="2369170"/>
            <a:ext cx="5259114" cy="35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6A972D2-A494-4131-918A-234529B6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66084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C042D-64E8-41FF-822E-2DC6DFA9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1C63C0-4915-4E10-8527-DF7EE27C7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 descr="銀河系的數量多了十倍！ | CASE 報科學">
            <a:extLst>
              <a:ext uri="{FF2B5EF4-FFF2-40B4-BE49-F238E27FC236}">
                <a16:creationId xmlns:a16="http://schemas.microsoft.com/office/drawing/2014/main" id="{CD55B83C-C8A4-4CC0-ABDD-E6FFBEFF2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97" y="2276308"/>
            <a:ext cx="5092140" cy="369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AD4012E-CB56-4101-8BD8-1414DA17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6859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C042D-64E8-41FF-822E-2DC6DFA9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1C63C0-4915-4E10-8527-DF7EE27C7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Picture 2" descr="雙渦輪加電子渦輪《Mazda》再度提交引擎專利設計圖－ 國王車訊KingAutos">
            <a:extLst>
              <a:ext uri="{FF2B5EF4-FFF2-40B4-BE49-F238E27FC236}">
                <a16:creationId xmlns:a16="http://schemas.microsoft.com/office/drawing/2014/main" id="{13A6A885-5D5B-43D2-A49A-98C1211CE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006" y="2324712"/>
            <a:ext cx="5171267" cy="3516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DB1F134-E617-41A0-8E2B-BC487FC3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4157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C042D-64E8-41FF-822E-2DC6DFA9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1C63C0-4915-4E10-8527-DF7EE27C7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3FD0B6-AF29-4A97-8EAA-267C448E0515}"/>
              </a:ext>
            </a:extLst>
          </p:cNvPr>
          <p:cNvSpPr/>
          <p:nvPr/>
        </p:nvSpPr>
        <p:spPr>
          <a:xfrm>
            <a:off x="3546203" y="2212624"/>
            <a:ext cx="5842131" cy="3819172"/>
          </a:xfrm>
          <a:prstGeom prst="rect">
            <a:avLst/>
          </a:prstGeom>
          <a:ln w="285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3970" dirty="0">
                <a:solidFill>
                  <a:prstClr val="white"/>
                </a:solidFill>
                <a:latin typeface="Calibri" panose="020F0502020204030204"/>
                <a:ea typeface="新細明體" panose="02020500000000000000" pitchFamily="18" charset="-120"/>
              </a:rPr>
              <a:t>system</a:t>
            </a:r>
            <a:endParaRPr lang="zh-TW" altLang="en-US" sz="3970" dirty="0">
              <a:solidFill>
                <a:prstClr val="white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pic>
        <p:nvPicPr>
          <p:cNvPr id="4098" name="Picture 2" descr="花六分鐘深入瞭解細胞營養- Ask The Scientists">
            <a:extLst>
              <a:ext uri="{FF2B5EF4-FFF2-40B4-BE49-F238E27FC236}">
                <a16:creationId xmlns:a16="http://schemas.microsoft.com/office/drawing/2014/main" id="{6A92C4C6-712F-4250-9874-58025937A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458" y="2343383"/>
            <a:ext cx="5554030" cy="351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32FC47F-9E4E-42FD-9F62-2B4744F3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24665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http://pansci.asia/wp-content/uploads/2020/07/6bb61e3b7bce0931da574d19d1d82c88-560x262.jpg">
            <a:extLst>
              <a:ext uri="{FF2B5EF4-FFF2-40B4-BE49-F238E27FC236}">
                <a16:creationId xmlns:a16="http://schemas.microsoft.com/office/drawing/2014/main" id="{A93A06D1-5409-4389-8965-8E2470846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222" y="1748120"/>
            <a:ext cx="8691991" cy="4066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99533E30-D66A-4881-83F4-A2ABD6BB8F64}"/>
              </a:ext>
            </a:extLst>
          </p:cNvPr>
          <p:cNvSpPr/>
          <p:nvPr/>
        </p:nvSpPr>
        <p:spPr>
          <a:xfrm>
            <a:off x="1073605" y="838352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220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Boundary</a:t>
            </a:r>
            <a:endParaRPr lang="zh-TW" altLang="en-US" sz="220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BAC9B88-40F3-47D8-95E6-F712D85B8C2A}"/>
              </a:ext>
            </a:extLst>
          </p:cNvPr>
          <p:cNvSpPr/>
          <p:nvPr/>
        </p:nvSpPr>
        <p:spPr>
          <a:xfrm>
            <a:off x="4989489" y="3148724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220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Components</a:t>
            </a:r>
            <a:endParaRPr lang="zh-TW" altLang="en-US" sz="220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5DF61BA-CD33-469A-A68C-5D6DD8100222}"/>
              </a:ext>
            </a:extLst>
          </p:cNvPr>
          <p:cNvSpPr/>
          <p:nvPr/>
        </p:nvSpPr>
        <p:spPr>
          <a:xfrm>
            <a:off x="3716827" y="5920845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220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Resources/input</a:t>
            </a:r>
            <a:endParaRPr lang="zh-TW" altLang="en-US" sz="220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E859A71-1F58-43F2-AE2F-8DA1E11C614D}"/>
              </a:ext>
            </a:extLst>
          </p:cNvPr>
          <p:cNvSpPr/>
          <p:nvPr/>
        </p:nvSpPr>
        <p:spPr>
          <a:xfrm>
            <a:off x="7833757" y="3126527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220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Flow</a:t>
            </a:r>
            <a:endParaRPr lang="zh-TW" altLang="en-US" sz="220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5F5E3DC-F0B3-43C1-A989-F94D1A0FB888}"/>
              </a:ext>
            </a:extLst>
          </p:cNvPr>
          <p:cNvSpPr/>
          <p:nvPr/>
        </p:nvSpPr>
        <p:spPr>
          <a:xfrm>
            <a:off x="9106419" y="833877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220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Feedback</a:t>
            </a:r>
            <a:endParaRPr lang="zh-TW" altLang="en-US" sz="220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577E782-3AAD-4D2D-B3EE-B3A428877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022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澎湃新闻">
            <a:extLst>
              <a:ext uri="{FF2B5EF4-FFF2-40B4-BE49-F238E27FC236}">
                <a16:creationId xmlns:a16="http://schemas.microsoft.com/office/drawing/2014/main" id="{3EF427EC-4451-45E4-951C-0545ECEEC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086" y="1072126"/>
            <a:ext cx="8971721" cy="504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2B4A6BE-FA00-4A87-A6FA-05107E458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53885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澎湃新闻">
            <a:extLst>
              <a:ext uri="{FF2B5EF4-FFF2-40B4-BE49-F238E27FC236}">
                <a16:creationId xmlns:a16="http://schemas.microsoft.com/office/drawing/2014/main" id="{58546E4E-5372-4791-8340-A6E6C08CE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171" y="2648879"/>
            <a:ext cx="4463019" cy="251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有關人類大腦認知的六大迷思和誤區- BBC 英伦网">
            <a:extLst>
              <a:ext uri="{FF2B5EF4-FFF2-40B4-BE49-F238E27FC236}">
                <a16:creationId xmlns:a16="http://schemas.microsoft.com/office/drawing/2014/main" id="{4AD4AD71-7852-4231-A297-80B1F9E1D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115" y="2648879"/>
            <a:ext cx="4463019" cy="251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6B0599BB-015B-4400-9017-16A4A1913F65}"/>
              </a:ext>
            </a:extLst>
          </p:cNvPr>
          <p:cNvSpPr/>
          <p:nvPr/>
        </p:nvSpPr>
        <p:spPr>
          <a:xfrm>
            <a:off x="476432" y="1406155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Unstable</a:t>
            </a:r>
            <a:endParaRPr lang="zh-TW" altLang="en-US" sz="198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C417E22-6DA4-4A9D-BDCA-2C3B28AE2315}"/>
              </a:ext>
            </a:extLst>
          </p:cNvPr>
          <p:cNvSpPr/>
          <p:nvPr/>
        </p:nvSpPr>
        <p:spPr>
          <a:xfrm>
            <a:off x="3180025" y="1406153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Internal</a:t>
            </a:r>
            <a:endParaRPr lang="zh-TW" altLang="en-US" sz="198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BF6B24C-C90D-4476-9B2C-12335F7905EF}"/>
              </a:ext>
            </a:extLst>
          </p:cNvPr>
          <p:cNvSpPr/>
          <p:nvPr/>
        </p:nvSpPr>
        <p:spPr>
          <a:xfrm>
            <a:off x="3021757" y="5360632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Idiosyncratic</a:t>
            </a:r>
            <a:endParaRPr lang="zh-TW" altLang="en-US" sz="198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D9D8D6A-3D1D-4D8C-A4EF-2B70C45C9C54}"/>
              </a:ext>
            </a:extLst>
          </p:cNvPr>
          <p:cNvSpPr/>
          <p:nvPr/>
        </p:nvSpPr>
        <p:spPr>
          <a:xfrm>
            <a:off x="243111" y="5360632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Incomplete</a:t>
            </a:r>
            <a:endParaRPr lang="zh-TW" altLang="en-US" sz="198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6893952-1830-4260-B97E-08930169BF43}"/>
              </a:ext>
            </a:extLst>
          </p:cNvPr>
          <p:cNvSpPr/>
          <p:nvPr/>
        </p:nvSpPr>
        <p:spPr>
          <a:xfrm>
            <a:off x="0" y="3383393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personal</a:t>
            </a:r>
            <a:endParaRPr lang="zh-TW" altLang="en-US" sz="198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F5D77B5-5A5B-47D5-9DE8-9EA7AA79B1CD}"/>
              </a:ext>
            </a:extLst>
          </p:cNvPr>
          <p:cNvSpPr/>
          <p:nvPr/>
        </p:nvSpPr>
        <p:spPr>
          <a:xfrm>
            <a:off x="3937096" y="3383391"/>
            <a:ext cx="2545325" cy="104142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Mental Model</a:t>
            </a:r>
            <a:endParaRPr lang="zh-TW" altLang="en-US" sz="198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71F1013-FFD4-4156-B2EB-7FC2AD90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5584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澎湃新闻">
            <a:extLst>
              <a:ext uri="{FF2B5EF4-FFF2-40B4-BE49-F238E27FC236}">
                <a16:creationId xmlns:a16="http://schemas.microsoft.com/office/drawing/2014/main" id="{6E6773F9-E618-4FC2-8EB2-54CA6E189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171" y="2648879"/>
            <a:ext cx="4463019" cy="251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id="{E8423138-6945-4948-89D7-54DF1AC02615}"/>
              </a:ext>
            </a:extLst>
          </p:cNvPr>
          <p:cNvSpPr/>
          <p:nvPr/>
        </p:nvSpPr>
        <p:spPr>
          <a:xfrm>
            <a:off x="1748997" y="857239"/>
            <a:ext cx="3544072" cy="145005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Model</a:t>
            </a:r>
            <a:endParaRPr lang="zh-TW" altLang="en-US" sz="198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08F6AA8-8DE4-4348-ADDF-DB9589BE4C5F}"/>
              </a:ext>
            </a:extLst>
          </p:cNvPr>
          <p:cNvSpPr/>
          <p:nvPr/>
        </p:nvSpPr>
        <p:spPr>
          <a:xfrm>
            <a:off x="2248370" y="2648880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Clear</a:t>
            </a:r>
            <a:endParaRPr lang="zh-TW" altLang="en-US" sz="198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E78774B-83FD-43CF-9C5C-14499F5AB83D}"/>
              </a:ext>
            </a:extLst>
          </p:cNvPr>
          <p:cNvSpPr/>
          <p:nvPr/>
        </p:nvSpPr>
        <p:spPr>
          <a:xfrm>
            <a:off x="2248370" y="3904104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Shared</a:t>
            </a:r>
            <a:endParaRPr lang="zh-TW" altLang="en-US" sz="198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2AAD790-A5A8-42AC-A38B-16CAA1D81B99}"/>
              </a:ext>
            </a:extLst>
          </p:cNvPr>
          <p:cNvSpPr/>
          <p:nvPr/>
        </p:nvSpPr>
        <p:spPr>
          <a:xfrm>
            <a:off x="2248370" y="5154072"/>
            <a:ext cx="2545325" cy="10414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r>
              <a:rPr lang="en-US" altLang="zh-TW" sz="1985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External</a:t>
            </a:r>
            <a:endParaRPr lang="zh-TW" altLang="en-US" sz="1985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022DFBD-438C-4AAD-B73E-1E492180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6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箭號: 弧形下彎 3">
            <a:extLst>
              <a:ext uri="{FF2B5EF4-FFF2-40B4-BE49-F238E27FC236}">
                <a16:creationId xmlns:a16="http://schemas.microsoft.com/office/drawing/2014/main" id="{3CC5A1AD-DD5B-4B09-8D5C-3B2E3B3DB55C}"/>
              </a:ext>
            </a:extLst>
          </p:cNvPr>
          <p:cNvSpPr/>
          <p:nvPr/>
        </p:nvSpPr>
        <p:spPr>
          <a:xfrm>
            <a:off x="775647" y="2728028"/>
            <a:ext cx="11789825" cy="3631456"/>
          </a:xfrm>
          <a:prstGeom prst="curvedDownArrow">
            <a:avLst/>
          </a:prstGeo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08309"/>
            <a:endParaRPr lang="zh-TW" altLang="en-US" sz="1985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8045F7C-7D40-4DFE-9CDA-3A619A08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Emergent Properties of Model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7BBEF-7FEC-41BB-9AF6-86EF870F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312" y="2013328"/>
            <a:ext cx="11595914" cy="4798370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Scale 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218" name="Picture 2" descr="葉綠素- A+醫學百科">
            <a:extLst>
              <a:ext uri="{FF2B5EF4-FFF2-40B4-BE49-F238E27FC236}">
                <a16:creationId xmlns:a16="http://schemas.microsoft.com/office/drawing/2014/main" id="{F5718DC6-A23C-4110-914E-5E7663845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8" y="4692556"/>
            <a:ext cx="1920232" cy="2160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葉綠素- 維基百科，自由嘅百科全書">
            <a:extLst>
              <a:ext uri="{FF2B5EF4-FFF2-40B4-BE49-F238E27FC236}">
                <a16:creationId xmlns:a16="http://schemas.microsoft.com/office/drawing/2014/main" id="{4353650F-B2CE-48CA-B5F3-418EC0FA5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055" y="3075678"/>
            <a:ext cx="2327744" cy="174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葉子PNG圖案素材免費下載，圖片尺寸1297 × 1209px - Lovepik">
            <a:extLst>
              <a:ext uri="{FF2B5EF4-FFF2-40B4-BE49-F238E27FC236}">
                <a16:creationId xmlns:a16="http://schemas.microsoft.com/office/drawing/2014/main" id="{A884B5E4-13AA-49DB-925F-5CFF15447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20" b="95085" l="6250" r="95167">
                        <a14:foregroundMark x1="12833" y1="73101" x2="8167" y2="61305"/>
                        <a14:foregroundMark x1="8167" y1="61305" x2="8083" y2="49151"/>
                        <a14:foregroundMark x1="8083" y1="49151" x2="9833" y2="44504"/>
                        <a14:foregroundMark x1="6250" y1="12064" x2="50250" y2="51743"/>
                        <a14:foregroundMark x1="87500" y1="73548" x2="95167" y2="83110"/>
                        <a14:foregroundMark x1="95167" y1="83110" x2="95167" y2="84182"/>
                        <a14:foregroundMark x1="55583" y1="85791" x2="53917" y2="88561"/>
                        <a14:foregroundMark x1="53917" y1="86685" x2="54750" y2="87846"/>
                        <a14:foregroundMark x1="53500" y1="87846" x2="59167" y2="950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897" y="1765049"/>
            <a:ext cx="2357989" cy="2198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苗栗縣政府全球資訊網-中文網-縣樹">
            <a:extLst>
              <a:ext uri="{FF2B5EF4-FFF2-40B4-BE49-F238E27FC236}">
                <a16:creationId xmlns:a16="http://schemas.microsoft.com/office/drawing/2014/main" id="{E85BDCA1-3BBD-4623-80E4-964352BF7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577" y="3039288"/>
            <a:ext cx="2616328" cy="1746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日本地方創生】西粟倉村01 百年森林構想，從森林活化開始｜上下游">
            <a:extLst>
              <a:ext uri="{FF2B5EF4-FFF2-40B4-BE49-F238E27FC236}">
                <a16:creationId xmlns:a16="http://schemas.microsoft.com/office/drawing/2014/main" id="{7A15274F-740F-4FD0-9DC0-D420113AD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844" y="5133898"/>
            <a:ext cx="2896927" cy="1931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9D47C3D-70C6-4010-8160-95C21C5BE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045F7C-7D40-4DFE-9CDA-3A619A08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Emergent Properties of Model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7BBEF-7FEC-41BB-9AF6-86EF870F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312" y="2013328"/>
            <a:ext cx="11595914" cy="4798370"/>
          </a:xfrm>
        </p:spPr>
        <p:txBody>
          <a:bodyPr/>
          <a:lstStyle/>
          <a:p>
            <a:r>
              <a:rPr lang="en-US" altLang="zh-TW" dirty="0"/>
              <a:t>Scale </a:t>
            </a:r>
            <a:endParaRPr lang="zh-TW" altLang="en-US" dirty="0"/>
          </a:p>
        </p:txBody>
      </p:sp>
      <p:pic>
        <p:nvPicPr>
          <p:cNvPr id="9" name="Picture 4" descr="1-3">
            <a:extLst>
              <a:ext uri="{FF2B5EF4-FFF2-40B4-BE49-F238E27FC236}">
                <a16:creationId xmlns:a16="http://schemas.microsoft.com/office/drawing/2014/main" id="{F40B462A-C27C-4F63-9682-EECB475FC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5029" y="1657670"/>
            <a:ext cx="3407969" cy="54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A81B42-EEDE-41B4-9700-3663AFB3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2948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045F7C-7D40-4DFE-9CDA-3A619A08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Emergent Properties of Model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7BBEF-7FEC-41BB-9AF6-86EF870F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312" y="2013328"/>
            <a:ext cx="11595914" cy="4798370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Components and flow 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BB046EE-4F6D-4B2C-9511-699333E38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123" y="2039782"/>
            <a:ext cx="5054203" cy="5054203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59682F-48B0-42E3-84BB-2DF3446B3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19785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045F7C-7D40-4DFE-9CDA-3A619A08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Emergent Properties of Model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7BBEF-7FEC-41BB-9AF6-86EF870F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312" y="2013328"/>
            <a:ext cx="11595914" cy="4798370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rate 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40473AE-3753-473F-8F88-305F18B67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453" y="2013328"/>
            <a:ext cx="4630692" cy="474246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C8FA7-7055-4686-9B26-838314925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0282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045F7C-7D40-4DFE-9CDA-3A619A08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Emergent Properties of Model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7BBEF-7FEC-41BB-9AF6-86EF870F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312" y="2043578"/>
            <a:ext cx="11595914" cy="4798370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Feedback: positive negative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Activity: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蚜蟲與植物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試想夏熱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秋涼和冬冷三種條件下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蚜蟲數量與植物生長的回饋作用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314" name="Picture 2" descr="http://www.physicalgeography.net/fundamentals/images/aphids.jpg">
            <a:extLst>
              <a:ext uri="{FF2B5EF4-FFF2-40B4-BE49-F238E27FC236}">
                <a16:creationId xmlns:a16="http://schemas.microsoft.com/office/drawing/2014/main" id="{A8E99A74-966D-4EDF-99BF-23026F3E7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199" y="2043578"/>
            <a:ext cx="5212170" cy="357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1562F0-D400-424E-A859-D54E2D13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768E9-E09E-47FB-93EB-00CDFF4C90E4}" type="slidenum">
              <a:rPr lang="zh-TW" altLang="en-US" smtClean="0"/>
              <a:t>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3011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</TotalTime>
  <Words>1602</Words>
  <Application>Microsoft Office PowerPoint</Application>
  <PresentationFormat>自訂</PresentationFormat>
  <Paragraphs>553</Paragraphs>
  <Slides>69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69</vt:i4>
      </vt:variant>
    </vt:vector>
  </HeadingPairs>
  <TitlesOfParts>
    <vt:vector size="77" baseType="lpstr">
      <vt:lpstr>Aptos</vt:lpstr>
      <vt:lpstr>微軟正黑體</vt:lpstr>
      <vt:lpstr>Arial</vt:lpstr>
      <vt:lpstr>Calibri</vt:lpstr>
      <vt:lpstr>Calibri Light</vt:lpstr>
      <vt:lpstr>Times New Roman</vt:lpstr>
      <vt:lpstr>Office Theme</vt:lpstr>
      <vt:lpstr>Office 佈景主題</vt:lpstr>
      <vt:lpstr>Introduction to Physical Geography</vt:lpstr>
      <vt:lpstr>Professors</vt:lpstr>
      <vt:lpstr>TAs</vt:lpstr>
      <vt:lpstr>PowerPoint 簡報</vt:lpstr>
      <vt:lpstr>Grade</vt:lpstr>
      <vt:lpstr>Grade</vt:lpstr>
      <vt:lpstr>PowerPoint 簡報</vt:lpstr>
      <vt:lpstr>What is geography?</vt:lpstr>
      <vt:lpstr>(2012)</vt:lpstr>
      <vt:lpstr>Spatial Distribution</vt:lpstr>
      <vt:lpstr>Spatial (&amp; Temporal) Analysis</vt:lpstr>
      <vt:lpstr>Geography</vt:lpstr>
      <vt:lpstr>Laws of Geography</vt:lpstr>
      <vt:lpstr>What is physical geography?</vt:lpstr>
      <vt:lpstr>Important environmental problems</vt:lpstr>
      <vt:lpstr>Planetary Boundaries</vt:lpstr>
      <vt:lpstr>Earth Elements</vt:lpstr>
      <vt:lpstr>We will learn</vt:lpstr>
      <vt:lpstr>We will learn the systems of</vt:lpstr>
      <vt:lpstr>We will learn the systems of</vt:lpstr>
      <vt:lpstr>Geosphere Process</vt:lpstr>
      <vt:lpstr>Atmosphere Process</vt:lpstr>
      <vt:lpstr>Hydrosphere Process</vt:lpstr>
      <vt:lpstr>Biosphere Process</vt:lpstr>
      <vt:lpstr>Surface Process</vt:lpstr>
      <vt:lpstr>Physical Geography</vt:lpstr>
      <vt:lpstr>How to study the Earth system?</vt:lpstr>
      <vt:lpstr>How to Make Observations?</vt:lpstr>
      <vt:lpstr>How to Make Observations?</vt:lpstr>
      <vt:lpstr>PowerPoint 簡報</vt:lpstr>
      <vt:lpstr>How to Analyze Data?</vt:lpstr>
      <vt:lpstr>How to Analyze Data?</vt:lpstr>
      <vt:lpstr>How to Analyze Data?</vt:lpstr>
      <vt:lpstr>How to Analyze Data?</vt:lpstr>
      <vt:lpstr>How to Analyze Data?</vt:lpstr>
      <vt:lpstr>Programming</vt:lpstr>
      <vt:lpstr>Physical Geography</vt:lpstr>
      <vt:lpstr>Course Structure in Our Department</vt:lpstr>
      <vt:lpstr>Course Structure in Our Department</vt:lpstr>
      <vt:lpstr>Physical Geography at NTU</vt:lpstr>
      <vt:lpstr>李美慧老師 －環境生態研究室</vt:lpstr>
      <vt:lpstr>黃誌川老師 － 水文研究室</vt:lpstr>
      <vt:lpstr>黃倬英老師 － 生態系統生態學實驗室</vt:lpstr>
      <vt:lpstr>莊振義老師 － 地表大氣交互作用研究室</vt:lpstr>
      <vt:lpstr>翁葳老師 －翁葳老師研究室</vt:lpstr>
      <vt:lpstr>楊啟見老師 － 地表作用與地形研究室</vt:lpstr>
      <vt:lpstr>莊昀叡老師 － 地表與地殼作用研究室</vt:lpstr>
      <vt:lpstr>International Courses</vt:lpstr>
      <vt:lpstr>International Courses</vt:lpstr>
      <vt:lpstr>領域專長</vt:lpstr>
      <vt:lpstr>學士班榮譽學程</vt:lpstr>
      <vt:lpstr>Systems 系統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Emergent Properties of Model</vt:lpstr>
      <vt:lpstr>Emergent Properties of Model</vt:lpstr>
      <vt:lpstr>Emergent Properties of Model</vt:lpstr>
      <vt:lpstr>Emergent Properties of Model</vt:lpstr>
      <vt:lpstr>Emergent Properties of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Physical Geography</dc:title>
  <cp:lastModifiedBy>user</cp:lastModifiedBy>
  <cp:revision>31</cp:revision>
  <dcterms:created xsi:type="dcterms:W3CDTF">2025-07-29T14:15:44Z</dcterms:created>
  <dcterms:modified xsi:type="dcterms:W3CDTF">2025-09-03T06:21:33Z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2025-07-29T00:00:00Z</vt:filetime>
  </property>
</Properties>
</file>